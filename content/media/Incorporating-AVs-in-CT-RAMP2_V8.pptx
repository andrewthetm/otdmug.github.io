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3"/>
  </p:notesMasterIdLst>
  <p:sldIdLst>
    <p:sldId id="256" r:id="rId2"/>
    <p:sldId id="283" r:id="rId3"/>
    <p:sldId id="333" r:id="rId4"/>
    <p:sldId id="314" r:id="rId5"/>
    <p:sldId id="352" r:id="rId6"/>
    <p:sldId id="320" r:id="rId7"/>
    <p:sldId id="266" r:id="rId8"/>
    <p:sldId id="343" r:id="rId9"/>
    <p:sldId id="267" r:id="rId10"/>
    <p:sldId id="346" r:id="rId11"/>
    <p:sldId id="296" r:id="rId12"/>
    <p:sldId id="321" r:id="rId13"/>
    <p:sldId id="322" r:id="rId14"/>
    <p:sldId id="324" r:id="rId15"/>
    <p:sldId id="325" r:id="rId16"/>
    <p:sldId id="326" r:id="rId17"/>
    <p:sldId id="347" r:id="rId18"/>
    <p:sldId id="348" r:id="rId19"/>
    <p:sldId id="349" r:id="rId20"/>
    <p:sldId id="350" r:id="rId21"/>
    <p:sldId id="328" r:id="rId22"/>
    <p:sldId id="329" r:id="rId23"/>
    <p:sldId id="353" r:id="rId24"/>
    <p:sldId id="336" r:id="rId25"/>
    <p:sldId id="337" r:id="rId26"/>
    <p:sldId id="338" r:id="rId27"/>
    <p:sldId id="339" r:id="rId28"/>
    <p:sldId id="335" r:id="rId29"/>
    <p:sldId id="330" r:id="rId30"/>
    <p:sldId id="354" r:id="rId31"/>
    <p:sldId id="334" r:id="rId32"/>
    <p:sldId id="355" r:id="rId33"/>
    <p:sldId id="357" r:id="rId34"/>
    <p:sldId id="358" r:id="rId35"/>
    <p:sldId id="359" r:id="rId36"/>
    <p:sldId id="360" r:id="rId37"/>
    <p:sldId id="361" r:id="rId38"/>
    <p:sldId id="362" r:id="rId39"/>
    <p:sldId id="363" r:id="rId40"/>
    <p:sldId id="364" r:id="rId41"/>
    <p:sldId id="365" r:id="rId42"/>
    <p:sldId id="366" r:id="rId43"/>
    <p:sldId id="367" r:id="rId44"/>
    <p:sldId id="368" r:id="rId45"/>
    <p:sldId id="369" r:id="rId46"/>
    <p:sldId id="370" r:id="rId47"/>
    <p:sldId id="371" r:id="rId48"/>
    <p:sldId id="372" r:id="rId49"/>
    <p:sldId id="373" r:id="rId50"/>
    <p:sldId id="374" r:id="rId51"/>
    <p:sldId id="375" r:id="rId52"/>
    <p:sldId id="376" r:id="rId53"/>
    <p:sldId id="315" r:id="rId54"/>
    <p:sldId id="351" r:id="rId55"/>
    <p:sldId id="341" r:id="rId56"/>
    <p:sldId id="290" r:id="rId57"/>
    <p:sldId id="344" r:id="rId58"/>
    <p:sldId id="345" r:id="rId59"/>
    <p:sldId id="291" r:id="rId60"/>
    <p:sldId id="342" r:id="rId61"/>
    <p:sldId id="356" r:id="rId6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771" autoAdjust="0"/>
    <p:restoredTop sz="94660"/>
  </p:normalViewPr>
  <p:slideViewPr>
    <p:cSldViewPr snapToGrid="0">
      <p:cViewPr varScale="1">
        <p:scale>
          <a:sx n="87" d="100"/>
          <a:sy n="87" d="100"/>
        </p:scale>
        <p:origin x="4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Papers\AV\AV_Capacity_Speed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\\w-amnyc-d-sag13\c$\Projects\20713A_Ohio3C\1_Docs\AV_Capacity_Speed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Capacity Improvements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Sheet1!$A$2:$A$22</c:f>
              <c:numCache>
                <c:formatCode>General</c:formatCode>
                <c:ptCount val="21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</c:v>
                </c:pt>
                <c:pt idx="4">
                  <c:v>0.2</c:v>
                </c:pt>
                <c:pt idx="5">
                  <c:v>0.25</c:v>
                </c:pt>
                <c:pt idx="6">
                  <c:v>0.3</c:v>
                </c:pt>
                <c:pt idx="7">
                  <c:v>0.35</c:v>
                </c:pt>
                <c:pt idx="8">
                  <c:v>0.4</c:v>
                </c:pt>
                <c:pt idx="9">
                  <c:v>0.45</c:v>
                </c:pt>
                <c:pt idx="10">
                  <c:v>0.5</c:v>
                </c:pt>
                <c:pt idx="11">
                  <c:v>0.55000000000000004</c:v>
                </c:pt>
                <c:pt idx="12">
                  <c:v>0.6</c:v>
                </c:pt>
                <c:pt idx="13">
                  <c:v>0.65</c:v>
                </c:pt>
                <c:pt idx="14">
                  <c:v>0.7</c:v>
                </c:pt>
                <c:pt idx="15">
                  <c:v>0.75</c:v>
                </c:pt>
                <c:pt idx="16">
                  <c:v>0.8</c:v>
                </c:pt>
                <c:pt idx="17">
                  <c:v>0.85</c:v>
                </c:pt>
                <c:pt idx="18">
                  <c:v>0.9</c:v>
                </c:pt>
                <c:pt idx="19">
                  <c:v>0.95</c:v>
                </c:pt>
                <c:pt idx="20">
                  <c:v>1</c:v>
                </c:pt>
              </c:numCache>
            </c:numRef>
          </c:xVal>
          <c:yVal>
            <c:numRef>
              <c:f>Sheet1!$B$2:$B$22</c:f>
              <c:numCache>
                <c:formatCode>General</c:formatCode>
                <c:ptCount val="21"/>
                <c:pt idx="0">
                  <c:v>3130.434782608696</c:v>
                </c:pt>
                <c:pt idx="1">
                  <c:v>3221.4765100671148</c:v>
                </c:pt>
                <c:pt idx="2">
                  <c:v>3317.972350230415</c:v>
                </c:pt>
                <c:pt idx="3">
                  <c:v>3420.4275534441804</c:v>
                </c:pt>
                <c:pt idx="4">
                  <c:v>3529.4117647058824</c:v>
                </c:pt>
                <c:pt idx="5">
                  <c:v>3645.5696202531649</c:v>
                </c:pt>
                <c:pt idx="6">
                  <c:v>3769.6335078534034</c:v>
                </c:pt>
                <c:pt idx="7">
                  <c:v>3902.4390243902444</c:v>
                </c:pt>
                <c:pt idx="8">
                  <c:v>4044.9438202247197</c:v>
                </c:pt>
                <c:pt idx="9">
                  <c:v>4198.250728862974</c:v>
                </c:pt>
                <c:pt idx="10">
                  <c:v>4363.636363636364</c:v>
                </c:pt>
                <c:pt idx="11">
                  <c:v>4542.5867507886433</c:v>
                </c:pt>
                <c:pt idx="12">
                  <c:v>4736.8421052631575</c:v>
                </c:pt>
                <c:pt idx="13">
                  <c:v>4948.4536082474224</c:v>
                </c:pt>
                <c:pt idx="14">
                  <c:v>5179.856115107913</c:v>
                </c:pt>
                <c:pt idx="15">
                  <c:v>5433.9622641509432</c:v>
                </c:pt>
                <c:pt idx="16">
                  <c:v>5714.2857142857156</c:v>
                </c:pt>
                <c:pt idx="17">
                  <c:v>6025.1046025104597</c:v>
                </c:pt>
                <c:pt idx="18">
                  <c:v>6371.6814159292044</c:v>
                </c:pt>
                <c:pt idx="19">
                  <c:v>6760.5633802816901</c:v>
                </c:pt>
                <c:pt idx="20">
                  <c:v>7200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4A4-4903-B7F9-F20262B7D6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92573624"/>
        <c:axId val="487986784"/>
      </c:scatterChart>
      <c:valAx>
        <c:axId val="392573624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AV Proportion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7986784"/>
        <c:crosses val="autoZero"/>
        <c:crossBetween val="midCat"/>
      </c:valAx>
      <c:valAx>
        <c:axId val="487986784"/>
        <c:scaling>
          <c:orientation val="minMax"/>
          <c:min val="15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Capacity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9257362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Capacity Improvements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Sheet1!$A$2:$A$22</c:f>
              <c:numCache>
                <c:formatCode>General</c:formatCode>
                <c:ptCount val="21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</c:v>
                </c:pt>
                <c:pt idx="4">
                  <c:v>0.2</c:v>
                </c:pt>
                <c:pt idx="5">
                  <c:v>0.25</c:v>
                </c:pt>
                <c:pt idx="6">
                  <c:v>0.3</c:v>
                </c:pt>
                <c:pt idx="7">
                  <c:v>0.35</c:v>
                </c:pt>
                <c:pt idx="8">
                  <c:v>0.4</c:v>
                </c:pt>
                <c:pt idx="9">
                  <c:v>0.45</c:v>
                </c:pt>
                <c:pt idx="10">
                  <c:v>0.5</c:v>
                </c:pt>
                <c:pt idx="11">
                  <c:v>0.55000000000000004</c:v>
                </c:pt>
                <c:pt idx="12">
                  <c:v>0.6</c:v>
                </c:pt>
                <c:pt idx="13">
                  <c:v>0.65</c:v>
                </c:pt>
                <c:pt idx="14">
                  <c:v>0.7</c:v>
                </c:pt>
                <c:pt idx="15">
                  <c:v>0.75</c:v>
                </c:pt>
                <c:pt idx="16">
                  <c:v>0.8</c:v>
                </c:pt>
                <c:pt idx="17">
                  <c:v>0.85</c:v>
                </c:pt>
                <c:pt idx="18">
                  <c:v>0.9</c:v>
                </c:pt>
                <c:pt idx="19">
                  <c:v>0.95</c:v>
                </c:pt>
                <c:pt idx="20">
                  <c:v>1</c:v>
                </c:pt>
              </c:numCache>
            </c:numRef>
          </c:xVal>
          <c:yVal>
            <c:numRef>
              <c:f>Sheet1!$C$2:$C$22</c:f>
              <c:numCache>
                <c:formatCode>General</c:formatCode>
                <c:ptCount val="21"/>
                <c:pt idx="0">
                  <c:v>2420.1680672268908</c:v>
                </c:pt>
                <c:pt idx="1">
                  <c:v>2474.2268041237116</c:v>
                </c:pt>
                <c:pt idx="2">
                  <c:v>2530.7557117750443</c:v>
                </c:pt>
                <c:pt idx="3">
                  <c:v>2589.9280575539569</c:v>
                </c:pt>
                <c:pt idx="4">
                  <c:v>2651.9337016574586</c:v>
                </c:pt>
                <c:pt idx="5">
                  <c:v>2716.981132075472</c:v>
                </c:pt>
                <c:pt idx="6">
                  <c:v>2785.2998065764023</c:v>
                </c:pt>
                <c:pt idx="7">
                  <c:v>2857.1428571428573</c:v>
                </c:pt>
                <c:pt idx="8">
                  <c:v>2932.7902240325866</c:v>
                </c:pt>
                <c:pt idx="9">
                  <c:v>3012.5523012552303</c:v>
                </c:pt>
                <c:pt idx="10">
                  <c:v>3096.7741935483873</c:v>
                </c:pt>
                <c:pt idx="11">
                  <c:v>3185.8407079646022</c:v>
                </c:pt>
                <c:pt idx="12">
                  <c:v>3280.1822323462416</c:v>
                </c:pt>
                <c:pt idx="13">
                  <c:v>3380.2816901408451</c:v>
                </c:pt>
                <c:pt idx="14">
                  <c:v>3486.6828087167069</c:v>
                </c:pt>
                <c:pt idx="15">
                  <c:v>3600.0000000000005</c:v>
                </c:pt>
                <c:pt idx="16">
                  <c:v>3720.9302325581398</c:v>
                </c:pt>
                <c:pt idx="17">
                  <c:v>3850.2673796791446</c:v>
                </c:pt>
                <c:pt idx="18">
                  <c:v>3988.9196675900275</c:v>
                </c:pt>
                <c:pt idx="19">
                  <c:v>4137.9310344827582</c:v>
                </c:pt>
                <c:pt idx="20">
                  <c:v>4298.5074626865671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3FE-4288-89E3-607643EE01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63334320"/>
        <c:axId val="663334648"/>
      </c:scatterChart>
      <c:valAx>
        <c:axId val="663334320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AV Proportion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63334648"/>
        <c:crosses val="autoZero"/>
        <c:crossBetween val="midCat"/>
      </c:valAx>
      <c:valAx>
        <c:axId val="663334648"/>
        <c:scaling>
          <c:orientation val="minMax"/>
          <c:min val="15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Capacity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6333432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0" i="0" u="none" strike="noStrike" kern="1200" spc="7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Capacity improvement factor for Interstate facility</a:t>
            </a:r>
          </a:p>
        </c:rich>
      </c:tx>
      <c:layout>
        <c:manualLayout>
          <c:xMode val="edge"/>
          <c:yMode val="edge"/>
          <c:x val="0.1707104557640750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0" i="0" u="none" strike="noStrike" kern="1200" spc="7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5760169724092798"/>
          <c:y val="8.691271236086702E-2"/>
          <c:w val="0.79903369149901837"/>
          <c:h val="0.75563076469140433"/>
        </c:manualLayout>
      </c:layout>
      <c:scatterChart>
        <c:scatterStyle val="lineMarker"/>
        <c:varyColors val="0"/>
        <c:ser>
          <c:idx val="0"/>
          <c:order val="0"/>
          <c:tx>
            <c:strRef>
              <c:f>Capacity!$C$1</c:f>
              <c:strCache>
                <c:ptCount val="1"/>
                <c:pt idx="0">
                  <c:v>Factor</c:v>
                </c:pt>
              </c:strCache>
            </c:strRef>
          </c:tx>
          <c:spPr>
            <a:ln w="28575">
              <a:solidFill>
                <a:schemeClr val="accent1"/>
              </a:solidFill>
            </a:ln>
            <a:effectLst/>
          </c:spPr>
          <c:marker>
            <c:symbol val="none"/>
          </c:marker>
          <c:xVal>
            <c:numRef>
              <c:f>Capacity!$A$2:$A$22</c:f>
              <c:numCache>
                <c:formatCode>0%</c:formatCode>
                <c:ptCount val="21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0.15000000000000002</c:v>
                </c:pt>
                <c:pt idx="4">
                  <c:v>0.2</c:v>
                </c:pt>
                <c:pt idx="5">
                  <c:v>0.25</c:v>
                </c:pt>
                <c:pt idx="6">
                  <c:v>0.3</c:v>
                </c:pt>
                <c:pt idx="7">
                  <c:v>0.35</c:v>
                </c:pt>
                <c:pt idx="8">
                  <c:v>0.39999999999999997</c:v>
                </c:pt>
                <c:pt idx="9">
                  <c:v>0.44999999999999996</c:v>
                </c:pt>
                <c:pt idx="10">
                  <c:v>0.49999999999999994</c:v>
                </c:pt>
                <c:pt idx="11">
                  <c:v>0.54999999999999993</c:v>
                </c:pt>
                <c:pt idx="12">
                  <c:v>0.6</c:v>
                </c:pt>
                <c:pt idx="13">
                  <c:v>0.65</c:v>
                </c:pt>
                <c:pt idx="14">
                  <c:v>0.70000000000000007</c:v>
                </c:pt>
                <c:pt idx="15">
                  <c:v>0.75000000000000011</c:v>
                </c:pt>
                <c:pt idx="16">
                  <c:v>0.80000000000000016</c:v>
                </c:pt>
                <c:pt idx="17">
                  <c:v>0.8500000000000002</c:v>
                </c:pt>
                <c:pt idx="18">
                  <c:v>0.90000000000000024</c:v>
                </c:pt>
                <c:pt idx="19">
                  <c:v>0.95000000000000029</c:v>
                </c:pt>
                <c:pt idx="20">
                  <c:v>1.0000000000000002</c:v>
                </c:pt>
              </c:numCache>
            </c:numRef>
          </c:xVal>
          <c:yVal>
            <c:numRef>
              <c:f>Capacity!$C$2:$C$22</c:f>
              <c:numCache>
                <c:formatCode>_(* #,##0.00_);_(* \(#,##0.00\);_(* "-"??_);_(@_)</c:formatCode>
                <c:ptCount val="21"/>
                <c:pt idx="0">
                  <c:v>1</c:v>
                </c:pt>
                <c:pt idx="1">
                  <c:v>1.0227272727272727</c:v>
                </c:pt>
                <c:pt idx="2">
                  <c:v>1.0465116279069766</c:v>
                </c:pt>
                <c:pt idx="3">
                  <c:v>1.0714285714285714</c:v>
                </c:pt>
                <c:pt idx="4">
                  <c:v>1.097560975609756</c:v>
                </c:pt>
                <c:pt idx="5">
                  <c:v>1.125</c:v>
                </c:pt>
                <c:pt idx="6">
                  <c:v>1.1538461538461537</c:v>
                </c:pt>
                <c:pt idx="7">
                  <c:v>1.1842105263157894</c:v>
                </c:pt>
                <c:pt idx="8">
                  <c:v>1.216216216216216</c:v>
                </c:pt>
                <c:pt idx="9">
                  <c:v>1.25</c:v>
                </c:pt>
                <c:pt idx="10">
                  <c:v>1.2857142857142856</c:v>
                </c:pt>
                <c:pt idx="11">
                  <c:v>1.3235294117647056</c:v>
                </c:pt>
                <c:pt idx="12">
                  <c:v>1.3636363636363635</c:v>
                </c:pt>
                <c:pt idx="13">
                  <c:v>1.40625</c:v>
                </c:pt>
                <c:pt idx="14">
                  <c:v>1.4516129032258065</c:v>
                </c:pt>
                <c:pt idx="15">
                  <c:v>1.5</c:v>
                </c:pt>
                <c:pt idx="16">
                  <c:v>1.5517241379310347</c:v>
                </c:pt>
                <c:pt idx="17">
                  <c:v>1.6071428571428572</c:v>
                </c:pt>
                <c:pt idx="18">
                  <c:v>1.666666666666667</c:v>
                </c:pt>
                <c:pt idx="19">
                  <c:v>1.7307692307692313</c:v>
                </c:pt>
                <c:pt idx="20">
                  <c:v>1.8000000000000005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2F7-47CA-BAA8-FA4616B2DA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55283496"/>
        <c:axId val="355288416"/>
      </c:scatterChart>
      <c:valAx>
        <c:axId val="355283496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AV Proportion</a:t>
                </a:r>
              </a:p>
            </c:rich>
          </c:tx>
          <c:layout>
            <c:manualLayout>
              <c:xMode val="edge"/>
              <c:yMode val="edge"/>
              <c:x val="0.47325780165489784"/>
              <c:y val="0.9419542504462864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5288416"/>
        <c:crosses val="autoZero"/>
        <c:crossBetween val="midCat"/>
      </c:valAx>
      <c:valAx>
        <c:axId val="355288416"/>
        <c:scaling>
          <c:orientation val="minMax"/>
          <c:min val="1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AV Capacity / Conventional Capacity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_(* #,##0.00_);_(* \(#,##0.0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528349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100000">
          <a:schemeClr val="lt1">
            <a:lumMod val="95000"/>
          </a:schemeClr>
        </a:gs>
        <a:gs pos="43000">
          <a:schemeClr val="lt1"/>
        </a:gs>
      </a:gsLst>
      <a:path path="circle">
        <a:fillToRect l="50000" t="50000" r="50000" b="50000"/>
      </a:path>
      <a:tileRect/>
    </a:gra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 sz="1200">
          <a:solidFill>
            <a:sysClr val="windowText" lastClr="000000"/>
          </a:solidFill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9.5003452913086206E-2"/>
          <c:y val="9.1599297012302294E-2"/>
          <c:w val="0.84278718421432508"/>
          <c:h val="0.80200748192943372"/>
        </c:manualLayout>
      </c:layout>
      <c:scatterChart>
        <c:scatterStyle val="lineMarker"/>
        <c:varyColors val="0"/>
        <c:ser>
          <c:idx val="0"/>
          <c:order val="0"/>
          <c:tx>
            <c:strRef>
              <c:f>Speed!$C$1</c:f>
              <c:strCache>
                <c:ptCount val="1"/>
                <c:pt idx="0">
                  <c:v>Factor</c:v>
                </c:pt>
              </c:strCache>
            </c:strRef>
          </c:tx>
          <c:spPr>
            <a:ln w="2222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Speed!$A$2:$A$22</c:f>
              <c:numCache>
                <c:formatCode>0%</c:formatCode>
                <c:ptCount val="21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0.15000000000000002</c:v>
                </c:pt>
                <c:pt idx="4">
                  <c:v>0.2</c:v>
                </c:pt>
                <c:pt idx="5">
                  <c:v>0.25</c:v>
                </c:pt>
                <c:pt idx="6">
                  <c:v>0.3</c:v>
                </c:pt>
                <c:pt idx="7">
                  <c:v>0.35</c:v>
                </c:pt>
                <c:pt idx="8">
                  <c:v>0.39999999999999997</c:v>
                </c:pt>
                <c:pt idx="9">
                  <c:v>0.44999999999999996</c:v>
                </c:pt>
                <c:pt idx="10">
                  <c:v>0.49999999999999994</c:v>
                </c:pt>
                <c:pt idx="11">
                  <c:v>0.54999999999999993</c:v>
                </c:pt>
                <c:pt idx="12">
                  <c:v>0.6</c:v>
                </c:pt>
                <c:pt idx="13">
                  <c:v>0.65</c:v>
                </c:pt>
                <c:pt idx="14">
                  <c:v>0.70000000000000007</c:v>
                </c:pt>
                <c:pt idx="15">
                  <c:v>0.75000000000000011</c:v>
                </c:pt>
                <c:pt idx="16">
                  <c:v>0.80000000000000016</c:v>
                </c:pt>
                <c:pt idx="17">
                  <c:v>0.8500000000000002</c:v>
                </c:pt>
                <c:pt idx="18">
                  <c:v>0.90000000000000024</c:v>
                </c:pt>
                <c:pt idx="19">
                  <c:v>0.95000000000000029</c:v>
                </c:pt>
                <c:pt idx="20">
                  <c:v>1.0000000000000002</c:v>
                </c:pt>
              </c:numCache>
            </c:numRef>
          </c:xVal>
          <c:yVal>
            <c:numRef>
              <c:f>Speed!$C$2:$C$22</c:f>
              <c:numCache>
                <c:formatCode>_(* #,##0.00_);_(* \(#,##0.00\);_(* "-"??_);_(@_)</c:formatCode>
                <c:ptCount val="21"/>
                <c:pt idx="0">
                  <c:v>1</c:v>
                </c:pt>
                <c:pt idx="1">
                  <c:v>1.0005026430753907</c:v>
                </c:pt>
                <c:pt idx="2">
                  <c:v>1.0020223128536483</c:v>
                </c:pt>
                <c:pt idx="3">
                  <c:v>1.0045793343738871</c:v>
                </c:pt>
                <c:pt idx="4">
                  <c:v>1.0081978184971665</c:v>
                </c:pt>
                <c:pt idx="5">
                  <c:v>1.0129058949799601</c:v>
                </c:pt>
                <c:pt idx="6">
                  <c:v>1.0187359775554183</c:v>
                </c:pt>
                <c:pt idx="7">
                  <c:v>1.0257250644765394</c:v>
                </c:pt>
                <c:pt idx="8">
                  <c:v>1.033915078471479</c:v>
                </c:pt>
                <c:pt idx="9">
                  <c:v>1.0433532506295999</c:v>
                </c:pt>
                <c:pt idx="10">
                  <c:v>1.0540925533894598</c:v>
                </c:pt>
                <c:pt idx="11">
                  <c:v>1.0661921885508321</c:v>
                </c:pt>
                <c:pt idx="12">
                  <c:v>1.0797181370986648</c:v>
                </c:pt>
                <c:pt idx="13">
                  <c:v>1.0947437786272243</c:v>
                </c:pt>
                <c:pt idx="14">
                  <c:v>1.1113505893107976</c:v>
                </c:pt>
                <c:pt idx="15">
                  <c:v>1.1296289287108092</c:v>
                </c:pt>
                <c:pt idx="16">
                  <c:v>1.1496789272708452</c:v>
                </c:pt>
                <c:pt idx="17">
                  <c:v>1.1716114881699635</c:v>
                </c:pt>
                <c:pt idx="18">
                  <c:v>1.1955494193274609</c:v>
                </c:pt>
                <c:pt idx="19">
                  <c:v>1.2216287138348327</c:v>
                </c:pt>
                <c:pt idx="20">
                  <c:v>1.25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E92-418F-85A0-B84B16751F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55283496"/>
        <c:axId val="355288416"/>
      </c:scatterChart>
      <c:valAx>
        <c:axId val="355283496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AV Proportion</a:t>
                </a:r>
              </a:p>
            </c:rich>
          </c:tx>
          <c:layout>
            <c:manualLayout>
              <c:xMode val="edge"/>
              <c:yMode val="edge"/>
              <c:x val="0.47325780165489784"/>
              <c:y val="0.9419542504462864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%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5288416"/>
        <c:crosses val="autoZero"/>
        <c:crossBetween val="midCat"/>
      </c:valAx>
      <c:valAx>
        <c:axId val="355288416"/>
        <c:scaling>
          <c:orientation val="minMax"/>
          <c:min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AV Speed / RV Speed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_(* #,##0.00_);_(* \(#,##0.00\);_(* &quot;-&quot;??_);_(@_)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528349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accent3">
        <a:lumMod val="20000"/>
        <a:lumOff val="80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4">
  <cs:axisTitle>
    <cs:lnRef idx="0"/>
    <cs:fillRef idx="0"/>
    <cs:effectRef idx="0"/>
    <cs:fontRef idx="minor">
      <a:schemeClr val="dk1">
        <a:lumMod val="50000"/>
        <a:lumOff val="50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50000"/>
        <a:lumOff val="50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100000">
            <a:schemeClr val="lt1">
              <a:lumMod val="95000"/>
            </a:schemeClr>
          </a:gs>
          <a:gs pos="43000">
            <a:schemeClr val="lt1"/>
          </a:gs>
        </a:gsLst>
        <a:path path="circle">
          <a:fillToRect l="50000" t="50000" r="50000" b="50000"/>
        </a:path>
        <a:tileRect/>
      </a:gra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50000"/>
        <a:lumOff val="50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dk1">
          <a:lumMod val="15000"/>
          <a:lumOff val="85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>
        <a:solidFill>
          <a:schemeClr val="phClr">
            <a:alpha val="20000"/>
          </a:schemeClr>
        </a:solidFill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50000"/>
        <a:lumOff val="50000"/>
      </a:schemeClr>
    </cs:fontRef>
    <cs:spPr>
      <a:ln w="9525" cap="rnd">
        <a:solidFill>
          <a:schemeClr val="dk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tx1"/>
    </cs:fontRef>
    <cs:spPr>
      <a:ln w="9525">
        <a:solidFill>
          <a:schemeClr val="dk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50000"/>
        <a:lumOff val="50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600" b="0" kern="1200" spc="70" baseline="0"/>
  </cs:title>
  <cs:trendline>
    <cs:lnRef idx="0">
      <cs:styleClr val="0"/>
    </cs:lnRef>
    <cs:fillRef idx="0"/>
    <cs:effectRef idx="0"/>
    <cs:fontRef idx="minor">
      <a:schemeClr val="tx1"/>
    </cs:fontRef>
    <cs:spPr>
      <a:ln w="63500" cap="rnd" cmpd="sng" algn="ctr">
        <a:solidFill>
          <a:schemeClr val="phClr">
            <a:alpha val="25000"/>
          </a:schemeClr>
        </a:solidFill>
        <a:round/>
      </a:ln>
    </cs:spPr>
  </cs:trendline>
  <cs:trendlineLabel>
    <cs:lnRef idx="0"/>
    <cs:fillRef idx="0"/>
    <cs:effectRef idx="0"/>
    <cs:fontRef idx="minor">
      <a:schemeClr val="dk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dk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dk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4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064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9C1F11-122E-4663-9291-43795AD7F5A6}" type="datetimeFigureOut">
              <a:rPr lang="en-US" smtClean="0"/>
              <a:t>9/14/2018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7247C4-07EB-4C66-A0FD-74313B129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0175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75769-62BC-4C29-A3F0-E307444F03F6}" type="datetime1">
              <a:rPr lang="en-US" smtClean="0"/>
              <a:t>9/14/2018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C8C43-8740-476C-B809-C9C25E84F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293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09874-D8E3-4DF0-9156-5F58551C4E39}" type="datetime1">
              <a:rPr lang="en-US" smtClean="0"/>
              <a:t>9/14/2018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C8C43-8740-476C-B809-C9C25E84F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757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B632A-A137-4C60-868A-78093B80D6CF}" type="datetime1">
              <a:rPr lang="en-US" smtClean="0"/>
              <a:t>9/14/2018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C8C43-8740-476C-B809-C9C25E84F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348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6D6DF-8D7B-466D-8173-359F5651FB21}" type="datetime1">
              <a:rPr lang="en-US" smtClean="0"/>
              <a:t>9/14/2018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C8C43-8740-476C-B809-C9C25E84F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165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EB6D7-7078-4F7B-A4FF-AA50143EC473}" type="datetime1">
              <a:rPr lang="en-US" smtClean="0"/>
              <a:t>9/14/2018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C8C43-8740-476C-B809-C9C25E84F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852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09749-DAE6-45EA-BF3A-775B1160EEE1}" type="datetime1">
              <a:rPr lang="en-US" smtClean="0"/>
              <a:t>9/14/2018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C8C43-8740-476C-B809-C9C25E84F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976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E72EB-390A-43BC-8457-0FD3AD78BD83}" type="datetime1">
              <a:rPr lang="en-US" smtClean="0"/>
              <a:t>9/14/2018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C8C43-8740-476C-B809-C9C25E84F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489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E0313-49EA-4F82-A163-6A0C4ACF1397}" type="datetime1">
              <a:rPr lang="en-US" smtClean="0"/>
              <a:t>9/14/2018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C8C43-8740-476C-B809-C9C25E84F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685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6F006-584A-4611-94E9-F9A45633E561}" type="datetime1">
              <a:rPr lang="en-US" smtClean="0"/>
              <a:t>9/14/2018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C8C43-8740-476C-B809-C9C25E84F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637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1446B-FD9F-4F57-9829-5254EB7AA6FE}" type="datetime1">
              <a:rPr lang="en-US" smtClean="0"/>
              <a:t>9/14/2018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C8C43-8740-476C-B809-C9C25E84F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419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260AD-0D12-4A15-BA12-6E9D2B7971D4}" type="datetime1">
              <a:rPr lang="en-US" smtClean="0"/>
              <a:t>9/14/2018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C8C43-8740-476C-B809-C9C25E84F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346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90A726-462F-496D-9151-5372CFEC468B}" type="datetime1">
              <a:rPr lang="en-US" smtClean="0"/>
              <a:t>9/14/2018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7C8C43-8740-476C-B809-C9C25E84F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088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com/url?sa=i&amp;rct=j&amp;q=&amp;esrc=s&amp;frm=1&amp;source=images&amp;cd=&amp;cad=rja&amp;uact=8&amp;ved=0CAcQjRw&amp;url=http://all-free-download.com/free-vector/vector-clip-art/train_clip_art_18113.html&amp;ei=v9lrVO62Aa3gsATi54HQCA&amp;bvm=bv.79908130,d.cWc&amp;psig=AFQjCNE3rIOtqataAA8VSK7phV1ZkHB9LQ&amp;ust=1416440631727112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hyperlink" Target="http://www.partcatalog.com/blog/wp-content/uploads/2015/02/autonomous-vehicle-futuristic-design.jpg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com/url?sa=i&amp;rct=j&amp;q=&amp;esrc=s&amp;frm=1&amp;source=images&amp;cd=&amp;cad=rja&amp;uact=8&amp;ved=0CAcQjRw&amp;url=http://all-free-download.com/free-vector/vector-clip-art/train_clip_art_18113.html&amp;ei=v9lrVO62Aa3gsATi54HQCA&amp;bvm=bv.79908130,d.cWc&amp;psig=AFQjCNE3rIOtqataAA8VSK7phV1ZkHB9LQ&amp;ust=1416440631727112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image" Target="../media/image14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Incorporating AVs in Ohio 3C </a:t>
            </a:r>
            <a:br>
              <a:rPr lang="en-US" dirty="0"/>
            </a:br>
            <a:r>
              <a:rPr lang="en-US" dirty="0"/>
              <a:t>CT-RAMP2 Model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Peter Vovsha, Gaurav Vyas (WSP)</a:t>
            </a:r>
          </a:p>
          <a:p>
            <a:r>
              <a:rPr lang="en-US" dirty="0"/>
              <a:t>September 14, 2018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C8C43-8740-476C-B809-C9C25E84FCA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423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approach to incorporate AVs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Expected impacts and affected sub-models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C8C43-8740-476C-B809-C9C25E84FCA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489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 implications for transportation/urban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Earlier focuses:</a:t>
            </a:r>
          </a:p>
          <a:p>
            <a:pPr lvl="1"/>
            <a:r>
              <a:rPr lang="en-US" dirty="0"/>
              <a:t>Congestion reduction due to a better use of road capacity</a:t>
            </a:r>
          </a:p>
          <a:p>
            <a:pPr lvl="1"/>
            <a:r>
              <a:rPr lang="en-US" dirty="0"/>
              <a:t>VMT growth due to ZOV and higher trip rates</a:t>
            </a:r>
          </a:p>
          <a:p>
            <a:pPr lvl="1"/>
            <a:r>
              <a:rPr lang="en-US" dirty="0"/>
              <a:t>Replacement for transit (especially with MAAS/TNCs)</a:t>
            </a:r>
          </a:p>
          <a:p>
            <a:r>
              <a:rPr lang="en-US" dirty="0"/>
              <a:t>Recent recognition:</a:t>
            </a:r>
          </a:p>
          <a:p>
            <a:pPr lvl="1"/>
            <a:r>
              <a:rPr lang="en-US" dirty="0"/>
              <a:t>Parking demand, regulations, and tradeoffs with ZOV repositioning; possibility to remove parking from the city centers and replace it with AV staging areas</a:t>
            </a:r>
          </a:p>
          <a:p>
            <a:pPr lvl="1"/>
            <a:r>
              <a:rPr lang="en-US" dirty="0"/>
              <a:t>Integration with mass rapid transit and reshaping stations &amp; services</a:t>
            </a:r>
          </a:p>
          <a:p>
            <a:pPr lvl="1"/>
            <a:r>
              <a:rPr lang="en-US" dirty="0"/>
              <a:t>Impacts on car ownership and interplay between privately owned AVs and shared AVs in TNCs</a:t>
            </a:r>
          </a:p>
          <a:p>
            <a:pPr lvl="1"/>
            <a:r>
              <a:rPr lang="en-US" dirty="0"/>
              <a:t>Mobility equity and special population groups (elderly, disable)  </a:t>
            </a:r>
          </a:p>
          <a:p>
            <a:pPr lvl="1"/>
            <a:r>
              <a:rPr lang="en-US" dirty="0"/>
              <a:t>Far-reaching concept of a “smart city” (how the land-use could/should be reshaped with AVs)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C8C43-8740-476C-B809-C9C25E84FCA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693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AV impacts reflected in travel model</a:t>
            </a:r>
          </a:p>
        </p:txBody>
      </p:sp>
      <p:pic>
        <p:nvPicPr>
          <p:cNvPr id="7" name="Picture 6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403" y="1825626"/>
            <a:ext cx="10297669" cy="4351338"/>
          </a:xfrm>
          <a:prstGeom prst="rect">
            <a:avLst/>
          </a:prstGeo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fld id="{7A7C8C43-8740-476C-B809-C9C25E84FCA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223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 for consistent modeling of AVs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generic approach that can handle regular vehicles and AVs in a single modeling framework:</a:t>
            </a:r>
          </a:p>
          <a:p>
            <a:pPr lvl="1"/>
            <a:r>
              <a:rPr lang="en-US" dirty="0"/>
              <a:t>Not a special AV model or post-processing!</a:t>
            </a:r>
          </a:p>
          <a:p>
            <a:pPr lvl="1"/>
            <a:r>
              <a:rPr lang="en-US" dirty="0"/>
              <a:t>AV penetration rate as a scenario parameter:</a:t>
            </a:r>
          </a:p>
          <a:p>
            <a:pPr lvl="2"/>
            <a:r>
              <a:rPr lang="en-US" dirty="0"/>
              <a:t>If 0% - standard 3C ABM for all HHs</a:t>
            </a:r>
          </a:p>
          <a:p>
            <a:pPr lvl="2"/>
            <a:r>
              <a:rPr lang="en-US" dirty="0"/>
              <a:t>If 100% - AV version for all HHs</a:t>
            </a:r>
          </a:p>
          <a:p>
            <a:pPr lvl="2"/>
            <a:r>
              <a:rPr lang="en-US" dirty="0"/>
              <a:t>If between 0% and 100% - HHs are split into 2 groups</a:t>
            </a:r>
          </a:p>
          <a:p>
            <a:pPr lvl="1"/>
            <a:r>
              <a:rPr lang="en-US" dirty="0"/>
              <a:t>Other essential parameters / AV assumptions:</a:t>
            </a:r>
          </a:p>
          <a:p>
            <a:pPr lvl="2"/>
            <a:r>
              <a:rPr lang="en-US" dirty="0"/>
              <a:t>Listed in the global control file</a:t>
            </a:r>
          </a:p>
          <a:p>
            <a:pPr lvl="2"/>
            <a:r>
              <a:rPr lang="en-US" dirty="0"/>
              <a:t>Due to many factors of uncertainty multiple scenario analysis is essential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C8C43-8740-476C-B809-C9C25E84FCA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215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 impacts on travel demand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AVs affect travel demand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C8C43-8740-476C-B809-C9C25E84FCA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288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399"/>
            <a:ext cx="10515600" cy="792556"/>
          </a:xfrm>
        </p:spPr>
        <p:txBody>
          <a:bodyPr/>
          <a:lstStyle/>
          <a:p>
            <a:r>
              <a:rPr lang="en-US" dirty="0"/>
              <a:t>How vehicles are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98291"/>
            <a:ext cx="10515600" cy="5358060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lang="en-US" dirty="0"/>
              <a:t>Elderly, youth, disable, and other people without a driver license will have access to AVs; auto driver mode availability should not be constrained by age of 16 but extended to age of 12, 8, or even 5:  </a:t>
            </a:r>
          </a:p>
          <a:p>
            <a:pPr lvl="1"/>
            <a:r>
              <a:rPr lang="en-US" dirty="0"/>
              <a:t>Mode choice  </a:t>
            </a:r>
          </a:p>
          <a:p>
            <a:pPr lvl="1"/>
            <a:r>
              <a:rPr lang="en-US" dirty="0"/>
              <a:t>Escorting needs reduced or completely eliminated  </a:t>
            </a:r>
          </a:p>
          <a:p>
            <a:pPr lvl="0"/>
            <a:r>
              <a:rPr lang="en-US" dirty="0"/>
              <a:t>Cars become available at any location any time, including non-home locations even if not used earlier in tour, and not necessarily from home for the entire tour: </a:t>
            </a:r>
          </a:p>
          <a:p>
            <a:pPr lvl="1"/>
            <a:r>
              <a:rPr lang="en-US" dirty="0"/>
              <a:t>Mode choice and multi-modal tour mode combinations </a:t>
            </a:r>
          </a:p>
          <a:p>
            <a:pPr lvl="0"/>
            <a:r>
              <a:rPr lang="en-US" dirty="0"/>
              <a:t>Empty repositioning trips made by AVs facilitate intra-household sharing of cars (</a:t>
            </a:r>
            <a:r>
              <a:rPr lang="en-US" dirty="0">
                <a:solidFill>
                  <a:srgbClr val="FF0000"/>
                </a:solidFill>
              </a:rPr>
              <a:t>and TNC</a:t>
            </a:r>
            <a:r>
              <a:rPr lang="en-US" dirty="0"/>
              <a:t>):</a:t>
            </a:r>
          </a:p>
          <a:p>
            <a:pPr lvl="1"/>
            <a:r>
              <a:rPr lang="en-US" dirty="0" err="1"/>
              <a:t>carTrack</a:t>
            </a:r>
            <a:r>
              <a:rPr lang="en-US" dirty="0"/>
              <a:t>  </a:t>
            </a:r>
          </a:p>
          <a:p>
            <a:pPr lvl="0"/>
            <a:r>
              <a:rPr lang="en-US" dirty="0"/>
              <a:t>Ease to order a shared AV from TNC:</a:t>
            </a:r>
          </a:p>
          <a:p>
            <a:pPr lvl="1"/>
            <a:r>
              <a:rPr lang="en-US" dirty="0"/>
              <a:t>Mode choice (cheap ubiquitous driverless taxi/TNC that can increase the currently negligible share)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Accessibility impact on car ownership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C8C43-8740-476C-B809-C9C25E84FCA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622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Autonomous Google Uber Car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90885" y="4354939"/>
            <a:ext cx="2273916" cy="1135063"/>
          </a:xfrm>
          <a:prstGeom prst="rect">
            <a:avLst/>
          </a:prstGeom>
          <a:noFill/>
        </p:spPr>
      </p:pic>
      <p:pic>
        <p:nvPicPr>
          <p:cNvPr id="28" name="Picture 2" descr="Autonomous Google Uber Car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88485" y="4354939"/>
            <a:ext cx="2273916" cy="1135063"/>
          </a:xfrm>
          <a:prstGeom prst="rect">
            <a:avLst/>
          </a:prstGeom>
          <a:noFill/>
        </p:spPr>
      </p:pic>
      <p:pic>
        <p:nvPicPr>
          <p:cNvPr id="31" name="Picture 2" descr="Autonomous Google Uber Car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80001" y="4972476"/>
            <a:ext cx="2273916" cy="1135063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Cars available at any location any time, not necessarily from home for entire tour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835093"/>
            <a:ext cx="10972800" cy="2133600"/>
          </a:xfrm>
        </p:spPr>
        <p:txBody>
          <a:bodyPr/>
          <a:lstStyle/>
          <a:p>
            <a:pPr lvl="1"/>
            <a:r>
              <a:rPr lang="en-US" dirty="0"/>
              <a:t>ABM: Trip mode combinations on the tour less restrictive with any sequence of auto (AV) and transit </a:t>
            </a:r>
          </a:p>
        </p:txBody>
      </p:sp>
      <p:sp>
        <p:nvSpPr>
          <p:cNvPr id="6" name="Oval 5"/>
          <p:cNvSpPr/>
          <p:nvPr/>
        </p:nvSpPr>
        <p:spPr>
          <a:xfrm>
            <a:off x="1828800" y="3288138"/>
            <a:ext cx="1422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Home</a:t>
            </a:r>
          </a:p>
        </p:txBody>
      </p:sp>
      <p:sp>
        <p:nvSpPr>
          <p:cNvPr id="7" name="Oval 6"/>
          <p:cNvSpPr/>
          <p:nvPr/>
        </p:nvSpPr>
        <p:spPr>
          <a:xfrm>
            <a:off x="8737600" y="3288138"/>
            <a:ext cx="1422400" cy="9144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</a:t>
            </a:r>
          </a:p>
        </p:txBody>
      </p:sp>
      <p:sp>
        <p:nvSpPr>
          <p:cNvPr id="8" name="Oval 7"/>
          <p:cNvSpPr/>
          <p:nvPr/>
        </p:nvSpPr>
        <p:spPr>
          <a:xfrm>
            <a:off x="6502400" y="4278738"/>
            <a:ext cx="1422400" cy="9144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Shop</a:t>
            </a:r>
          </a:p>
        </p:txBody>
      </p:sp>
      <p:sp>
        <p:nvSpPr>
          <p:cNvPr id="9" name="Oval 8"/>
          <p:cNvSpPr/>
          <p:nvPr/>
        </p:nvSpPr>
        <p:spPr>
          <a:xfrm>
            <a:off x="4267200" y="4278738"/>
            <a:ext cx="1422400" cy="9144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Shop</a:t>
            </a:r>
          </a:p>
        </p:txBody>
      </p:sp>
      <p:cxnSp>
        <p:nvCxnSpPr>
          <p:cNvPr id="11" name="Straight Arrow Connector 10"/>
          <p:cNvCxnSpPr>
            <a:stCxn id="6" idx="6"/>
            <a:endCxn id="7" idx="2"/>
          </p:cNvCxnSpPr>
          <p:nvPr/>
        </p:nvCxnSpPr>
        <p:spPr>
          <a:xfrm>
            <a:off x="3251200" y="3745338"/>
            <a:ext cx="5486400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7" idx="3"/>
            <a:endCxn id="8" idx="6"/>
          </p:cNvCxnSpPr>
          <p:nvPr/>
        </p:nvCxnSpPr>
        <p:spPr>
          <a:xfrm flipH="1">
            <a:off x="7924801" y="4068628"/>
            <a:ext cx="1021105" cy="667311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8" idx="2"/>
            <a:endCxn id="9" idx="6"/>
          </p:cNvCxnSpPr>
          <p:nvPr/>
        </p:nvCxnSpPr>
        <p:spPr>
          <a:xfrm flipH="1">
            <a:off x="5689600" y="4735938"/>
            <a:ext cx="812800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9" idx="2"/>
            <a:endCxn id="6" idx="5"/>
          </p:cNvCxnSpPr>
          <p:nvPr/>
        </p:nvCxnSpPr>
        <p:spPr>
          <a:xfrm flipH="1" flipV="1">
            <a:off x="3042895" y="4068628"/>
            <a:ext cx="1224305" cy="667311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4" descr="https://encrypted-tbn3.gstatic.com/images?q=tbn:ANd9GcS0PTwEtKlJbOWAdoF2-SK5oO1PV3njlah5vE4O-XqrMSugj12A">
            <a:hlinkClick r:id="rId3"/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08866" y="3059538"/>
            <a:ext cx="1574269" cy="533400"/>
          </a:xfrm>
          <a:prstGeom prst="rect">
            <a:avLst/>
          </a:prstGeo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B3BA6-3831-4DB0-84A3-9889331685B4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2870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038CB10-1F5C-4D54-9DF7-12586DE5B00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546" y="4572000"/>
            <a:ext cx="7058307" cy="1964266"/>
          </a:xfrm>
          <a:prstGeom prst="rect">
            <a:avLst/>
          </a:prstGeom>
          <a:solidFill>
            <a:srgbClr val="2F4F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56" y="4767072"/>
            <a:ext cx="5952045" cy="1625210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How people view travel</a:t>
            </a:r>
          </a:p>
        </p:txBody>
      </p:sp>
      <p:pic>
        <p:nvPicPr>
          <p:cNvPr id="5" name="Picture 2" descr="Futuristic Design of Autonomous Vehicles">
            <a:hlinkClick r:id="rId2"/>
          </p:cNvPr>
          <p:cNvPicPr>
            <a:picLocks noChangeAspect="1" noChangeArrowheads="1"/>
          </p:cNvPicPr>
          <p:nvPr/>
        </p:nvPicPr>
        <p:blipFill rotWithShape="1">
          <a:blip r:embed="rId3" cstate="print"/>
          <a:srcRect r="1" b="4211"/>
          <a:stretch/>
        </p:blipFill>
        <p:spPr bwMode="auto">
          <a:xfrm>
            <a:off x="327547" y="321733"/>
            <a:ext cx="7058306" cy="4107392"/>
          </a:xfrm>
          <a:prstGeom prst="rect">
            <a:avLst/>
          </a:prstGeom>
          <a:noFill/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3ED6512-6858-4552-B699-9A97FE9A4EA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5" y="321732"/>
            <a:ext cx="4335613" cy="621453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9148" y="444617"/>
            <a:ext cx="4151851" cy="5947665"/>
          </a:xfrm>
        </p:spPr>
        <p:txBody>
          <a:bodyPr anchor="ctr">
            <a:normAutofit lnSpcReduction="10000"/>
          </a:bodyPr>
          <a:lstStyle/>
          <a:p>
            <a:r>
              <a:rPr lang="en-US" sz="1800" b="1" i="1" dirty="0">
                <a:solidFill>
                  <a:srgbClr val="FFFFFF"/>
                </a:solidFill>
              </a:rPr>
              <a:t>In-Vehicle Time Productivity</a:t>
            </a:r>
            <a:r>
              <a:rPr lang="en-US" sz="1800" dirty="0">
                <a:solidFill>
                  <a:srgbClr val="FFFFFF"/>
                </a:solidFill>
              </a:rPr>
              <a:t>; AVs offer a significant advantage over conventional vehicles (working, reading, texting, </a:t>
            </a:r>
            <a:r>
              <a:rPr lang="en-US" sz="1800" dirty="0" err="1">
                <a:solidFill>
                  <a:srgbClr val="FFFFFF"/>
                </a:solidFill>
              </a:rPr>
              <a:t>etc</a:t>
            </a:r>
            <a:r>
              <a:rPr lang="en-US" sz="1800" dirty="0">
                <a:solidFill>
                  <a:srgbClr val="FFFFFF"/>
                </a:solidFill>
              </a:rPr>
              <a:t>):</a:t>
            </a:r>
          </a:p>
          <a:p>
            <a:pPr lvl="1"/>
            <a:r>
              <a:rPr lang="en-US" sz="1800" dirty="0">
                <a:solidFill>
                  <a:srgbClr val="FFFFFF"/>
                </a:solidFill>
              </a:rPr>
              <a:t>Mode choice: reductions in in-vehicle time coefficient for AVs can range from 15% to 50%; a dimension for scenario analysis.  </a:t>
            </a:r>
          </a:p>
          <a:p>
            <a:pPr lvl="1"/>
            <a:r>
              <a:rPr lang="en-US" sz="1800" dirty="0">
                <a:solidFill>
                  <a:srgbClr val="FFFFFF"/>
                </a:solidFill>
              </a:rPr>
              <a:t>Accessibility measures: Effects of convenient and productive travel time are not bound to mode choice only but also should be incorporated in the destination </a:t>
            </a:r>
            <a:r>
              <a:rPr lang="en-US" sz="1800" dirty="0" err="1">
                <a:solidFill>
                  <a:srgbClr val="FFFFFF"/>
                </a:solidFill>
              </a:rPr>
              <a:t>choicel</a:t>
            </a:r>
            <a:r>
              <a:rPr lang="en-US" sz="1800" dirty="0">
                <a:solidFill>
                  <a:srgbClr val="FFFFFF"/>
                </a:solidFill>
              </a:rPr>
              <a:t>.  If people can do other things in the car, they might be willing to travel more or further.  </a:t>
            </a:r>
          </a:p>
          <a:p>
            <a:r>
              <a:rPr lang="en-US" sz="1800" b="1" i="1" dirty="0">
                <a:solidFill>
                  <a:srgbClr val="FFFFFF"/>
                </a:solidFill>
              </a:rPr>
              <a:t>AV as an access mode to transit</a:t>
            </a:r>
            <a:r>
              <a:rPr lang="en-US" sz="1800" dirty="0">
                <a:solidFill>
                  <a:srgbClr val="FFFFFF"/>
                </a:solidFill>
              </a:rPr>
              <a:t>; AVs create a new mode of transportation </a:t>
            </a:r>
            <a:r>
              <a:rPr lang="en-US" sz="1800" dirty="0" err="1">
                <a:solidFill>
                  <a:srgbClr val="FFFFFF"/>
                </a:solidFill>
              </a:rPr>
              <a:t>K</a:t>
            </a:r>
            <a:r>
              <a:rPr lang="en-US" sz="1800" baseline="-25000" dirty="0" err="1">
                <a:solidFill>
                  <a:srgbClr val="FFFFFF"/>
                </a:solidFill>
              </a:rPr>
              <a:t>r</a:t>
            </a:r>
            <a:r>
              <a:rPr lang="en-US" sz="1800" dirty="0" err="1">
                <a:solidFill>
                  <a:srgbClr val="FFFFFF"/>
                </a:solidFill>
              </a:rPr>
              <a:t>NR</a:t>
            </a:r>
            <a:r>
              <a:rPr lang="en-US" sz="1800" dirty="0">
                <a:solidFill>
                  <a:srgbClr val="FFFFFF"/>
                </a:solidFill>
              </a:rPr>
              <a:t> that combined advantages of Park-and-Ride (PNR) and Kiss-and-Ride (KNR) modes:</a:t>
            </a:r>
          </a:p>
          <a:p>
            <a:pPr lvl="1"/>
            <a:r>
              <a:rPr lang="en-US" sz="1800" dirty="0">
                <a:solidFill>
                  <a:srgbClr val="FFFFFF"/>
                </a:solidFill>
              </a:rPr>
              <a:t>Mode choice (can work in favor of rapid transit) 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837333" y="6535157"/>
            <a:ext cx="973667" cy="27432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A7C8C43-8740-476C-B809-C9C25E84FCA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spcAft>
                  <a:spcPts val="600"/>
                </a:spcAft>
              </a:pPr>
              <a:t>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6020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8876251" cy="1325563"/>
          </a:xfrm>
        </p:spPr>
        <p:txBody>
          <a:bodyPr>
            <a:normAutofit/>
          </a:bodyPr>
          <a:lstStyle/>
          <a:p>
            <a:r>
              <a:rPr lang="en-US" dirty="0"/>
              <a:t>General convenience of AV-K</a:t>
            </a:r>
            <a:r>
              <a:rPr lang="en-US" baseline="-25000" dirty="0"/>
              <a:t>R</a:t>
            </a:r>
            <a:r>
              <a:rPr lang="en-US" dirty="0"/>
              <a:t>NR vs. PNR KNR &amp; walk access/egress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860259"/>
            <a:ext cx="8001000" cy="874075"/>
          </a:xfrm>
        </p:spPr>
        <p:txBody>
          <a:bodyPr>
            <a:normAutofit/>
          </a:bodyPr>
          <a:lstStyle/>
          <a:p>
            <a:pPr lvl="1"/>
            <a:r>
              <a:rPr lang="en-US" dirty="0"/>
              <a:t>ABM: K</a:t>
            </a:r>
            <a:r>
              <a:rPr lang="en-US" baseline="-25000" dirty="0"/>
              <a:t>R</a:t>
            </a:r>
            <a:r>
              <a:rPr lang="en-US" dirty="0"/>
              <a:t>NR convenience parameters equalized to auto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886435" y="2793533"/>
            <a:ext cx="9213909" cy="3204595"/>
            <a:chOff x="987104" y="2917199"/>
            <a:chExt cx="9753600" cy="3040063"/>
          </a:xfrm>
        </p:grpSpPr>
        <p:pic>
          <p:nvPicPr>
            <p:cNvPr id="27" name="Picture 2" descr="Autonomous Google Uber Car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206305" y="2917199"/>
              <a:ext cx="2273916" cy="1135063"/>
            </a:xfrm>
            <a:prstGeom prst="rect">
              <a:avLst/>
            </a:prstGeom>
            <a:noFill/>
          </p:spPr>
        </p:pic>
        <p:sp>
          <p:nvSpPr>
            <p:cNvPr id="6" name="Oval 5"/>
            <p:cNvSpPr/>
            <p:nvPr/>
          </p:nvSpPr>
          <p:spPr>
            <a:xfrm>
              <a:off x="987104" y="3983998"/>
              <a:ext cx="1422400" cy="914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Home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9318304" y="3983998"/>
              <a:ext cx="1422400" cy="914400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Work</a:t>
              </a:r>
            </a:p>
          </p:txBody>
        </p:sp>
        <p:cxnSp>
          <p:nvCxnSpPr>
            <p:cNvPr id="11" name="Straight Arrow Connector 10"/>
            <p:cNvCxnSpPr>
              <a:stCxn id="6" idx="7"/>
              <a:endCxn id="13" idx="1"/>
            </p:cNvCxnSpPr>
            <p:nvPr/>
          </p:nvCxnSpPr>
          <p:spPr>
            <a:xfrm>
              <a:off x="2201199" y="4117909"/>
              <a:ext cx="2347011" cy="0"/>
            </a:xfrm>
            <a:prstGeom prst="straightConnector1">
              <a:avLst/>
            </a:prstGeom>
            <a:ln w="38100"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>
              <a:stCxn id="13" idx="3"/>
              <a:endCxn id="6" idx="5"/>
            </p:cNvCxnSpPr>
            <p:nvPr/>
          </p:nvCxnSpPr>
          <p:spPr>
            <a:xfrm flipH="1">
              <a:off x="2201199" y="4764487"/>
              <a:ext cx="2347011" cy="0"/>
            </a:xfrm>
            <a:prstGeom prst="straightConnector1">
              <a:avLst/>
            </a:prstGeom>
            <a:ln w="38100"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Elbow Connector 31"/>
            <p:cNvCxnSpPr>
              <a:stCxn id="13" idx="0"/>
              <a:endCxn id="7" idx="0"/>
            </p:cNvCxnSpPr>
            <p:nvPr/>
          </p:nvCxnSpPr>
          <p:spPr>
            <a:xfrm rot="5400000" flipH="1" flipV="1">
              <a:off x="7542421" y="1494798"/>
              <a:ext cx="12700" cy="4978400"/>
            </a:xfrm>
            <a:prstGeom prst="bentConnector3">
              <a:avLst>
                <a:gd name="adj1" fmla="val 1800000"/>
              </a:avLst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Elbow Connector 34"/>
            <p:cNvCxnSpPr>
              <a:stCxn id="7" idx="4"/>
              <a:endCxn id="13" idx="4"/>
            </p:cNvCxnSpPr>
            <p:nvPr/>
          </p:nvCxnSpPr>
          <p:spPr>
            <a:xfrm rot="5400000">
              <a:off x="7542421" y="2409198"/>
              <a:ext cx="12700" cy="4978400"/>
            </a:xfrm>
            <a:prstGeom prst="bentConnector3">
              <a:avLst>
                <a:gd name="adj1" fmla="val 1800000"/>
              </a:avLst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/>
            <p:cNvSpPr/>
            <p:nvPr/>
          </p:nvSpPr>
          <p:spPr>
            <a:xfrm>
              <a:off x="4339904" y="3983998"/>
              <a:ext cx="1422400" cy="914400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K</a:t>
              </a:r>
              <a:r>
                <a:rPr lang="en-US" baseline="-25000" dirty="0"/>
                <a:t>R</a:t>
              </a:r>
              <a:r>
                <a:rPr lang="en-US" dirty="0"/>
                <a:t>NR</a:t>
              </a:r>
            </a:p>
          </p:txBody>
        </p:sp>
        <p:pic>
          <p:nvPicPr>
            <p:cNvPr id="25" name="Picture 4" descr="https://encrypted-tbn3.gstatic.com/images?q=tbn:ANd9GcS0PTwEtKlJbOWAdoF2-SK5oO1PV3njlah5vE4O-XqrMSugj12A">
              <a:hlinkClick r:id="rId3"/>
            </p:cNvPr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6676704" y="3145798"/>
              <a:ext cx="1574269" cy="533400"/>
            </a:xfrm>
            <a:prstGeom prst="rect">
              <a:avLst/>
            </a:prstGeom>
            <a:noFill/>
          </p:spPr>
        </p:pic>
        <p:pic>
          <p:nvPicPr>
            <p:cNvPr id="26" name="Picture 4" descr="https://encrypted-tbn3.gstatic.com/images?q=tbn:ANd9GcS0PTwEtKlJbOWAdoF2-SK5oO1PV3njlah5vE4O-XqrMSugj12A">
              <a:hlinkClick r:id="rId3"/>
            </p:cNvPr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6728035" y="5279398"/>
              <a:ext cx="1574269" cy="533400"/>
            </a:xfrm>
            <a:prstGeom prst="rect">
              <a:avLst/>
            </a:prstGeom>
            <a:noFill/>
          </p:spPr>
        </p:pic>
        <p:pic>
          <p:nvPicPr>
            <p:cNvPr id="30" name="Picture 2" descr="Autonomous Google Uber Car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167589" y="4822199"/>
              <a:ext cx="2273916" cy="1135063"/>
            </a:xfrm>
            <a:prstGeom prst="rect">
              <a:avLst/>
            </a:prstGeom>
            <a:noFill/>
          </p:spPr>
        </p:pic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B3BA6-3831-4DB0-84A3-9889331685B4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9714451" y="1122027"/>
            <a:ext cx="2248250" cy="2031325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6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6">
                  <a:lumMod val="20000"/>
                  <a:lumOff val="80000"/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dirty="0"/>
              <a:t>3 plagues of transit access today: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Walk too long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PNR needs parking and extra car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KNR needs driver</a:t>
            </a:r>
          </a:p>
          <a:p>
            <a:r>
              <a:rPr lang="en-US" b="1" dirty="0"/>
              <a:t>AV solves all 3!</a:t>
            </a:r>
          </a:p>
        </p:txBody>
      </p:sp>
    </p:spTree>
    <p:extLst>
      <p:ext uri="{BB962C8B-B14F-4D97-AF65-F5344CB8AC3E}">
        <p14:creationId xmlns:p14="http://schemas.microsoft.com/office/powerpoint/2010/main" val="3238957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Impacts of AV on travel demand (Summary)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C8C43-8740-476C-B809-C9C25E84FCA2}" type="slidenum">
              <a:rPr lang="en-US" smtClean="0"/>
              <a:t>11</a:t>
            </a:fld>
            <a:endParaRPr 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82906" y="1337169"/>
            <a:ext cx="7826188" cy="5355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5660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carTrack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sub-model that predicts intra-household car allocation and use (routing and parking details)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C8C43-8740-476C-B809-C9C25E84FCA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5341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787"/>
            <a:ext cx="10515600" cy="1325563"/>
          </a:xfrm>
        </p:spPr>
        <p:txBody>
          <a:bodyPr/>
          <a:lstStyle/>
          <a:p>
            <a:r>
              <a:rPr lang="en-US" dirty="0"/>
              <a:t>HH car allocation and tracking (</a:t>
            </a:r>
            <a:r>
              <a:rPr lang="en-US" dirty="0" err="1"/>
              <a:t>carTrack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199626"/>
            <a:ext cx="11023833" cy="530184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What is does:</a:t>
            </a:r>
          </a:p>
          <a:p>
            <a:pPr lvl="1"/>
            <a:r>
              <a:rPr lang="en-US" dirty="0"/>
              <a:t>Allocated HH cars to trips taking into account time-space constraints</a:t>
            </a:r>
          </a:p>
          <a:p>
            <a:pPr lvl="1"/>
            <a:r>
              <a:rPr lang="en-US" dirty="0"/>
              <a:t>Reports car trips that cannot be served by HH cars (</a:t>
            </a:r>
            <a:r>
              <a:rPr lang="en-US" dirty="0">
                <a:solidFill>
                  <a:srgbClr val="FF0000"/>
                </a:solidFill>
              </a:rPr>
              <a:t>feedback to mode choice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Generates complete daily car routes including: </a:t>
            </a:r>
          </a:p>
          <a:p>
            <a:pPr lvl="2"/>
            <a:r>
              <a:rPr lang="en-US" dirty="0"/>
              <a:t>AV repositioning (ZOVs) for traffic assignment</a:t>
            </a:r>
          </a:p>
          <a:p>
            <a:pPr lvl="2"/>
            <a:r>
              <a:rPr lang="en-US" dirty="0"/>
              <a:t>Parking choices for AVs</a:t>
            </a:r>
          </a:p>
          <a:p>
            <a:pPr lvl="1"/>
            <a:r>
              <a:rPr lang="en-US" dirty="0"/>
              <a:t>Graphical output to analyze individual HH (time-space car-tracking diagram) </a:t>
            </a:r>
          </a:p>
          <a:p>
            <a:r>
              <a:rPr lang="en-US" dirty="0"/>
              <a:t>Discrete LP:</a:t>
            </a:r>
          </a:p>
          <a:p>
            <a:pPr lvl="1"/>
            <a:r>
              <a:rPr lang="en-US" dirty="0"/>
              <a:t>Assumes HH schedule, trips, and modes are given but allows for schedule relaxations (and consequently extra “wait” or “early departure”)</a:t>
            </a:r>
          </a:p>
          <a:p>
            <a:pPr lvl="1"/>
            <a:r>
              <a:rPr lang="en-US" dirty="0"/>
              <a:t>Optimizes HH objective function that combines weighted components:</a:t>
            </a:r>
          </a:p>
          <a:p>
            <a:pPr lvl="2"/>
            <a:r>
              <a:rPr lang="en-US" dirty="0"/>
              <a:t>Penalty for schedule adjustment</a:t>
            </a:r>
          </a:p>
          <a:p>
            <a:pPr lvl="2"/>
            <a:r>
              <a:rPr lang="en-US" dirty="0"/>
              <a:t>Usual driver for each car </a:t>
            </a:r>
          </a:p>
          <a:p>
            <a:pPr lvl="2"/>
            <a:r>
              <a:rPr lang="en-US" dirty="0"/>
              <a:t>Cost for unsatisfied car demand (assumes taxi/Uber used for the trip)</a:t>
            </a:r>
          </a:p>
          <a:p>
            <a:pPr lvl="2"/>
            <a:r>
              <a:rPr lang="en-US" dirty="0"/>
              <a:t>Car repositioning cost</a:t>
            </a:r>
          </a:p>
          <a:p>
            <a:pPr lvl="2"/>
            <a:r>
              <a:rPr lang="en-US" dirty="0"/>
              <a:t>Car parking cost    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C8C43-8740-476C-B809-C9C25E84FCA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8068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HH car allocation conflict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Occurs when number of car driver trips in the same time interval exceeds number of cars:</a:t>
            </a:r>
          </a:p>
          <a:p>
            <a:pPr lvl="1"/>
            <a:r>
              <a:rPr lang="en-US" dirty="0"/>
              <a:t>Mode choice does not have a “hard” constraint, only a “soft” probabilistic one</a:t>
            </a:r>
          </a:p>
          <a:p>
            <a:r>
              <a:rPr lang="en-US" dirty="0"/>
              <a:t>Ways to resolve:</a:t>
            </a:r>
          </a:p>
          <a:p>
            <a:pPr lvl="1"/>
            <a:r>
              <a:rPr lang="en-US" dirty="0"/>
              <a:t>Adjust /relax/stretch individual activity schedules:</a:t>
            </a:r>
          </a:p>
          <a:p>
            <a:pPr lvl="2"/>
            <a:r>
              <a:rPr lang="en-US" dirty="0"/>
              <a:t>Especially effective with AV repositioning</a:t>
            </a:r>
          </a:p>
          <a:p>
            <a:pPr lvl="2"/>
            <a:r>
              <a:rPr lang="en-US" dirty="0"/>
              <a:t>Rescheduling feasibility and penalties compared to cost of unsatisfied demand     </a:t>
            </a:r>
          </a:p>
          <a:p>
            <a:pPr lvl="1"/>
            <a:r>
              <a:rPr lang="en-US" dirty="0"/>
              <a:t>Generic </a:t>
            </a:r>
            <a:r>
              <a:rPr lang="en-US" dirty="0" err="1"/>
              <a:t>MaaS</a:t>
            </a:r>
            <a:r>
              <a:rPr lang="en-US" dirty="0"/>
              <a:t> service available (Uber, </a:t>
            </a:r>
            <a:r>
              <a:rPr lang="en-US" dirty="0" err="1"/>
              <a:t>etc</a:t>
            </a:r>
            <a:r>
              <a:rPr lang="en-US" dirty="0"/>
              <a:t>) for unsatisfied auto demand: </a:t>
            </a:r>
          </a:p>
          <a:p>
            <a:pPr lvl="2"/>
            <a:r>
              <a:rPr lang="en-US" dirty="0"/>
              <a:t>Part of mode choice</a:t>
            </a:r>
          </a:p>
          <a:p>
            <a:pPr lvl="2"/>
            <a:r>
              <a:rPr lang="en-US" dirty="0">
                <a:solidFill>
                  <a:srgbClr val="FF0000"/>
                </a:solidFill>
              </a:rPr>
              <a:t>Not fully processed for traffic assignment since there is no yet routing for them</a:t>
            </a:r>
          </a:p>
          <a:p>
            <a:pPr lvl="1"/>
            <a:r>
              <a:rPr lang="en-US" dirty="0"/>
              <a:t>Feedback to:</a:t>
            </a:r>
          </a:p>
          <a:p>
            <a:pPr lvl="2"/>
            <a:r>
              <a:rPr lang="en-US" dirty="0">
                <a:solidFill>
                  <a:srgbClr val="FF0000"/>
                </a:solidFill>
              </a:rPr>
              <a:t>Car ownership</a:t>
            </a:r>
          </a:p>
          <a:p>
            <a:pPr lvl="2"/>
            <a:r>
              <a:rPr lang="en-US" dirty="0">
                <a:solidFill>
                  <a:srgbClr val="FF0000"/>
                </a:solidFill>
              </a:rPr>
              <a:t>Mode choice </a:t>
            </a:r>
          </a:p>
          <a:p>
            <a:pPr lvl="2"/>
            <a:r>
              <a:rPr lang="en-US" dirty="0">
                <a:solidFill>
                  <a:srgbClr val="FF0000"/>
                </a:solidFill>
              </a:rPr>
              <a:t>Joint travel arrangements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C8C43-8740-476C-B809-C9C25E84FCA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8067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 parking trade-off with empty trips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Regular vehicle: </a:t>
            </a:r>
          </a:p>
          <a:p>
            <a:pPr lvl="1"/>
            <a:r>
              <a:rPr lang="en-US" dirty="0"/>
              <a:t>Parked at the trip destination for activity duration (or tour duration for PNR)</a:t>
            </a:r>
          </a:p>
          <a:p>
            <a:pPr lvl="1"/>
            <a:r>
              <a:rPr lang="en-US" dirty="0"/>
              <a:t>Taken from parking by the same driver</a:t>
            </a:r>
          </a:p>
          <a:p>
            <a:pPr lvl="1"/>
            <a:r>
              <a:rPr lang="en-US" dirty="0"/>
              <a:t>Drivers can switch only at home</a:t>
            </a:r>
          </a:p>
          <a:p>
            <a:r>
              <a:rPr lang="en-US" dirty="0"/>
              <a:t>AV:</a:t>
            </a:r>
          </a:p>
          <a:p>
            <a:pPr lvl="1"/>
            <a:r>
              <a:rPr lang="en-US" dirty="0"/>
              <a:t>Has multiple parking options for location, duration and switching of drivers by means of vehicle repositioning (ZOVs)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C8C43-8740-476C-B809-C9C25E84FCA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5589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AV parking and repositioning options</a:t>
            </a:r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1" y="1690688"/>
            <a:ext cx="10302528" cy="4486276"/>
          </a:xfrm>
          <a:prstGeom prst="rect">
            <a:avLst/>
          </a:prstGeo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fld id="{7A7C8C43-8740-476C-B809-C9C25E84FCA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6183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897998" cy="1325563"/>
          </a:xfrm>
        </p:spPr>
        <p:txBody>
          <a:bodyPr/>
          <a:lstStyle/>
          <a:p>
            <a:r>
              <a:rPr lang="en-US" dirty="0"/>
              <a:t>Time-space car-person diagram for a single non-AV HH (from ABM but can be from HTS)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606" y="1520148"/>
            <a:ext cx="6880301" cy="5160225"/>
          </a:xfrm>
        </p:spPr>
      </p:pic>
      <p:sp>
        <p:nvSpPr>
          <p:cNvPr id="6" name="TextBox 5"/>
          <p:cNvSpPr txBox="1"/>
          <p:nvPr/>
        </p:nvSpPr>
        <p:spPr>
          <a:xfrm>
            <a:off x="7417750" y="2172749"/>
            <a:ext cx="459315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3 persons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2 cars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Car driver trips: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Black – satisfied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Red – unsatisfied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ABM can have them due to “soft” probabilistic impact of car ownership on mode choice 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Feedback to mode choice is possible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 err="1"/>
              <a:t>CarTrack</a:t>
            </a:r>
            <a:r>
              <a:rPr lang="en-US" dirty="0"/>
              <a:t> minimizes unsatisfied demand   </a:t>
            </a:r>
          </a:p>
        </p:txBody>
      </p:sp>
    </p:spTree>
    <p:extLst>
      <p:ext uri="{BB962C8B-B14F-4D97-AF65-F5344CB8AC3E}">
        <p14:creationId xmlns:p14="http://schemas.microsoft.com/office/powerpoint/2010/main" val="10346067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80567"/>
            <a:ext cx="10515600" cy="1325563"/>
          </a:xfrm>
        </p:spPr>
        <p:txBody>
          <a:bodyPr/>
          <a:lstStyle/>
          <a:p>
            <a:r>
              <a:rPr lang="en-US" dirty="0"/>
              <a:t>Impact of car ownership (non-AV)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57400"/>
            <a:ext cx="6400800" cy="4800600"/>
          </a:xfrm>
        </p:spPr>
      </p:pic>
      <p:pic>
        <p:nvPicPr>
          <p:cNvPr id="6" name="Content Placeholder 5"/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0" y="2057400"/>
            <a:ext cx="6400800" cy="4800600"/>
          </a:xfrm>
        </p:spPr>
      </p:pic>
      <p:sp>
        <p:nvSpPr>
          <p:cNvPr id="3" name="TextBox 2"/>
          <p:cNvSpPr txBox="1"/>
          <p:nvPr/>
        </p:nvSpPr>
        <p:spPr>
          <a:xfrm>
            <a:off x="6627160" y="1659087"/>
            <a:ext cx="49182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Less cars means unsatisfied demand for activities with lower priorities</a:t>
            </a:r>
          </a:p>
        </p:txBody>
      </p:sp>
    </p:spTree>
    <p:extLst>
      <p:ext uri="{BB962C8B-B14F-4D97-AF65-F5344CB8AC3E}">
        <p14:creationId xmlns:p14="http://schemas.microsoft.com/office/powerpoint/2010/main" val="12944372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618" y="365125"/>
            <a:ext cx="11596382" cy="1325563"/>
          </a:xfrm>
        </p:spPr>
        <p:txBody>
          <a:bodyPr/>
          <a:lstStyle/>
          <a:p>
            <a:r>
              <a:rPr lang="en-US" dirty="0"/>
              <a:t>Mitigated impact of car ownership (HH-owned AV)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57400"/>
            <a:ext cx="6400800" cy="4800600"/>
          </a:xfrm>
        </p:spPr>
      </p:pic>
      <p:pic>
        <p:nvPicPr>
          <p:cNvPr id="5" name="Content Placeholder 4"/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0" y="2057400"/>
            <a:ext cx="6400800" cy="4800600"/>
          </a:xfrm>
        </p:spPr>
      </p:pic>
      <p:sp>
        <p:nvSpPr>
          <p:cNvPr id="3" name="TextBox 2"/>
          <p:cNvSpPr txBox="1"/>
          <p:nvPr/>
        </p:nvSpPr>
        <p:spPr>
          <a:xfrm>
            <a:off x="6988029" y="1853967"/>
            <a:ext cx="4262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One AV can serve all trips by repositioning</a:t>
            </a:r>
          </a:p>
        </p:txBody>
      </p:sp>
    </p:spTree>
    <p:extLst>
      <p:ext uri="{BB962C8B-B14F-4D97-AF65-F5344CB8AC3E}">
        <p14:creationId xmlns:p14="http://schemas.microsoft.com/office/powerpoint/2010/main" val="8564658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4341" y="365125"/>
            <a:ext cx="10997967" cy="1325563"/>
          </a:xfrm>
        </p:spPr>
        <p:txBody>
          <a:bodyPr/>
          <a:lstStyle/>
          <a:p>
            <a:r>
              <a:rPr lang="en-US" dirty="0"/>
              <a:t>Impact of parking cost and trade-off with empty trips (HH-owned AV)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57400"/>
            <a:ext cx="6400800" cy="4800600"/>
          </a:xfrm>
        </p:spPr>
      </p:pic>
      <p:pic>
        <p:nvPicPr>
          <p:cNvPr id="4" name="Content Placeholder 3"/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0" y="2057400"/>
            <a:ext cx="6400800" cy="4800600"/>
          </a:xfrm>
        </p:spPr>
      </p:pic>
      <p:sp>
        <p:nvSpPr>
          <p:cNvPr id="3" name="TextBox 2"/>
          <p:cNvSpPr txBox="1"/>
          <p:nvPr/>
        </p:nvSpPr>
        <p:spPr>
          <a:xfrm>
            <a:off x="1577131" y="1912690"/>
            <a:ext cx="3348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AV base case with no parking cost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73324" y="1317886"/>
            <a:ext cx="41465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Parking cost $12 for work trips of person 2</a:t>
            </a:r>
          </a:p>
          <a:p>
            <a:r>
              <a:rPr lang="en-US" dirty="0"/>
              <a:t>Results in car repositioning home</a:t>
            </a:r>
          </a:p>
          <a:p>
            <a:r>
              <a:rPr lang="en-US" dirty="0"/>
              <a:t>AVs reduce demand for parking</a:t>
            </a:r>
          </a:p>
        </p:txBody>
      </p:sp>
    </p:spTree>
    <p:extLst>
      <p:ext uri="{BB962C8B-B14F-4D97-AF65-F5344CB8AC3E}">
        <p14:creationId xmlns:p14="http://schemas.microsoft.com/office/powerpoint/2010/main" val="26970177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Adjustments of network capacity and speed for AVs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adjust network capacities an speeds for different AV penetration rates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C8C43-8740-476C-B809-C9C25E84FCA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4619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 fundamental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539099"/>
            <a:ext cx="10515600" cy="2751938"/>
          </a:xfrm>
        </p:spPr>
        <p:txBody>
          <a:bodyPr>
            <a:normAutofit/>
          </a:bodyPr>
          <a:lstStyle/>
          <a:p>
            <a:r>
              <a:rPr lang="en-US" dirty="0"/>
              <a:t>2 parameters should be defined and the 3</a:t>
            </a:r>
            <a:r>
              <a:rPr lang="en-US" baseline="30000" dirty="0"/>
              <a:t>rd</a:t>
            </a:r>
            <a:r>
              <a:rPr lang="en-US" dirty="0"/>
              <a:t> one derived</a:t>
            </a:r>
          </a:p>
          <a:p>
            <a:r>
              <a:rPr lang="en-US" dirty="0"/>
              <a:t>The derived parameter is useful as a sanity check </a:t>
            </a:r>
          </a:p>
          <a:p>
            <a:r>
              <a:rPr lang="en-US" dirty="0"/>
              <a:t>Shorter spacing between vehicles is the main advantage of AVs/CVs</a:t>
            </a:r>
          </a:p>
          <a:p>
            <a:r>
              <a:rPr lang="en-US" dirty="0">
                <a:solidFill>
                  <a:srgbClr val="C00000"/>
                </a:solidFill>
              </a:rPr>
              <a:t>How to translate (dynamic) throughput to capacity for a (static) VDF?</a:t>
            </a:r>
          </a:p>
          <a:p>
            <a:r>
              <a:rPr lang="en-US" dirty="0">
                <a:solidFill>
                  <a:srgbClr val="C00000"/>
                </a:solidFill>
              </a:rPr>
              <a:t>How to account for a mix of regular vehicles and AVs?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C8C43-8740-476C-B809-C9C25E84FCA2}" type="slidenum">
              <a:rPr lang="en-US" smtClean="0"/>
              <a:t>22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310079" y="1792412"/>
            <a:ext cx="34227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Speed, mph × 5,280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1690" y="2392261"/>
            <a:ext cx="52333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Lane_throughput</a:t>
            </a:r>
            <a:r>
              <a:rPr lang="en-US" sz="2800" dirty="0"/>
              <a:t>, </a:t>
            </a:r>
            <a:r>
              <a:rPr lang="en-US" sz="2800" dirty="0" err="1"/>
              <a:t>veh</a:t>
            </a:r>
            <a:r>
              <a:rPr lang="en-US" sz="2800" dirty="0"/>
              <a:t>/h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434518" y="2392261"/>
            <a:ext cx="350659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935524" y="2095814"/>
            <a:ext cx="59030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= </a:t>
            </a:r>
            <a:r>
              <a:rPr lang="en-US" sz="2800" dirty="0" err="1"/>
              <a:t>Spacing_between_vehicles</a:t>
            </a:r>
            <a:r>
              <a:rPr lang="en-US" sz="2800" dirty="0"/>
              <a:t>, </a:t>
            </a:r>
            <a:r>
              <a:rPr lang="en-US" sz="2800" dirty="0" err="1"/>
              <a:t>ft</a:t>
            </a:r>
            <a:r>
              <a:rPr lang="en-US" sz="2800" dirty="0"/>
              <a:t>/</a:t>
            </a:r>
            <a:r>
              <a:rPr lang="en-US" sz="2800" dirty="0" err="1"/>
              <a:t>veh</a:t>
            </a:r>
            <a:endParaRPr lang="en-US" sz="2800" dirty="0"/>
          </a:p>
        </p:txBody>
      </p:sp>
      <p:sp>
        <p:nvSpPr>
          <p:cNvPr id="5" name="Rectangle 4"/>
          <p:cNvSpPr/>
          <p:nvPr/>
        </p:nvSpPr>
        <p:spPr>
          <a:xfrm>
            <a:off x="956344" y="1648743"/>
            <a:ext cx="10326849" cy="152124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5061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787"/>
            <a:ext cx="10515600" cy="901613"/>
          </a:xfrm>
        </p:spPr>
        <p:txBody>
          <a:bodyPr/>
          <a:lstStyle/>
          <a:p>
            <a:r>
              <a:rPr lang="en-US" dirty="0"/>
              <a:t>Possible approaches /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0236"/>
            <a:ext cx="10515600" cy="5377342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(Le Vine) For each (free-flow) speed:</a:t>
            </a:r>
          </a:p>
          <a:p>
            <a:pPr lvl="1"/>
            <a:r>
              <a:rPr lang="en-US" dirty="0"/>
              <a:t>Define the minimum required spacing</a:t>
            </a:r>
          </a:p>
          <a:p>
            <a:pPr lvl="1"/>
            <a:r>
              <a:rPr lang="en-US" dirty="0"/>
              <a:t>Calculate the resulted throughput (capacity)</a:t>
            </a:r>
          </a:p>
          <a:p>
            <a:pPr lvl="1"/>
            <a:r>
              <a:rPr lang="en-US" dirty="0"/>
              <a:t>Optimal speed for throughput maximization can be defined</a:t>
            </a:r>
          </a:p>
          <a:p>
            <a:pPr lvl="1"/>
            <a:r>
              <a:rPr lang="en-US" dirty="0"/>
              <a:t>Not readily useful for VDF or partial penetration of AVs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(</a:t>
            </a:r>
            <a:r>
              <a:rPr lang="en-US" dirty="0" err="1"/>
              <a:t>Mahmassani</a:t>
            </a:r>
            <a:r>
              <a:rPr lang="en-US" dirty="0"/>
              <a:t>): For each AV penetration rate:</a:t>
            </a:r>
          </a:p>
          <a:p>
            <a:pPr lvl="1"/>
            <a:r>
              <a:rPr lang="en-US" dirty="0"/>
              <a:t>Calculate potential reduction of spacing</a:t>
            </a:r>
          </a:p>
          <a:p>
            <a:pPr lvl="1"/>
            <a:r>
              <a:rPr lang="en-US" dirty="0"/>
              <a:t>Adjust capacity proportionately </a:t>
            </a:r>
          </a:p>
          <a:p>
            <a:pPr lvl="1"/>
            <a:r>
              <a:rPr lang="en-US" dirty="0"/>
              <a:t>No specific consideration of speed</a:t>
            </a:r>
          </a:p>
          <a:p>
            <a:pPr lvl="1"/>
            <a:r>
              <a:rPr lang="en-US" dirty="0"/>
              <a:t>Can be used for VDF with partial penetration of AVs but may overstate speeds at high congestion levels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(Adopted): For each AV penetration rate:</a:t>
            </a:r>
          </a:p>
          <a:p>
            <a:pPr lvl="1"/>
            <a:r>
              <a:rPr lang="en-US" dirty="0"/>
              <a:t>Apply an empirical curve for capacity increase</a:t>
            </a:r>
          </a:p>
          <a:p>
            <a:pPr lvl="1"/>
            <a:r>
              <a:rPr lang="en-US" dirty="0"/>
              <a:t>Apply an empirical curve for speed increase (free-flow and congested proportionately)</a:t>
            </a:r>
          </a:p>
          <a:p>
            <a:pPr lvl="1"/>
            <a:r>
              <a:rPr lang="en-US" dirty="0"/>
              <a:t>Analyze the resulted spacing for consistency (should decrease with a growing penetration rate)</a:t>
            </a:r>
          </a:p>
          <a:p>
            <a:r>
              <a:rPr lang="en-US" dirty="0">
                <a:solidFill>
                  <a:srgbClr val="C00000"/>
                </a:solidFill>
              </a:rPr>
              <a:t>Limitations: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All this currently w/o detailed analysis/revision of VDF parameters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Applied for freeways only, arterials and local roads not revised yet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AVs impacts on intersection delays not clear, especially for partial penetration scenarios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C8C43-8740-476C-B809-C9C25E84FCA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6079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640" y="365125"/>
            <a:ext cx="1999891" cy="1722467"/>
          </a:xfrm>
        </p:spPr>
        <p:txBody>
          <a:bodyPr>
            <a:normAutofit fontScale="90000"/>
          </a:bodyPr>
          <a:lstStyle/>
          <a:p>
            <a:r>
              <a:rPr lang="en-US" dirty="0"/>
              <a:t>Le Vine et al, 2017</a:t>
            </a:r>
          </a:p>
        </p:txBody>
      </p:sp>
      <p:pic>
        <p:nvPicPr>
          <p:cNvPr id="5" name="Content Placeholder 4" descr="PORT-D-17-00028 Le Vine 35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751824" y="267420"/>
            <a:ext cx="9225934" cy="6387712"/>
          </a:xfrm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316302" y="2135038"/>
            <a:ext cx="2418272" cy="284240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Scenarios based on assumptions on upper limit of vehicle deceleration and reaction time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333E48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B3BA6-3831-4DB0-84A3-9889331685B4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4" name="Oval 3"/>
          <p:cNvSpPr/>
          <p:nvPr/>
        </p:nvSpPr>
        <p:spPr>
          <a:xfrm>
            <a:off x="11450973" y="159390"/>
            <a:ext cx="528507" cy="486562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278369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AVs freeway capacity improvements (Mahmassani, 2016) 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609600" y="160020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Leader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Follower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Spacing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r>
                        <a:rPr lang="en-US" sz="2400" dirty="0"/>
                        <a:t>Connected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Connected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</a:t>
                      </a:r>
                      <a:r>
                        <a:rPr lang="en-US" sz="2400" baseline="-25000" dirty="0"/>
                        <a:t>c</a:t>
                      </a:r>
                      <a:r>
                        <a:rPr lang="en-US" sz="2400" dirty="0"/>
                        <a:t>  (73 feet)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Autonomous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S</a:t>
                      </a:r>
                      <a:r>
                        <a:rPr lang="en-US" sz="2400" baseline="-25000" dirty="0"/>
                        <a:t>a</a:t>
                      </a:r>
                      <a:r>
                        <a:rPr lang="en-US" sz="2400" dirty="0"/>
                        <a:t>  (73</a:t>
                      </a:r>
                      <a:r>
                        <a:rPr lang="en-US" sz="2400" baseline="0" dirty="0"/>
                        <a:t> feet)</a:t>
                      </a:r>
                      <a:endParaRPr lang="en-US" sz="2400" dirty="0"/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Regular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/>
                        <a:t>S</a:t>
                      </a:r>
                      <a:r>
                        <a:rPr lang="en-US" sz="2400" baseline="-25000" dirty="0" err="1"/>
                        <a:t>r</a:t>
                      </a:r>
                      <a:r>
                        <a:rPr lang="en-US" sz="2400" dirty="0"/>
                        <a:t>  (146 feet)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r>
                        <a:rPr lang="en-US" sz="2400" dirty="0"/>
                        <a:t>Autonomous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Connected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/>
                        <a:t>S</a:t>
                      </a:r>
                      <a:r>
                        <a:rPr lang="en-US" sz="2400" baseline="-25000" dirty="0" err="1"/>
                        <a:t>r</a:t>
                      </a:r>
                      <a:r>
                        <a:rPr lang="en-US" sz="2400" dirty="0"/>
                        <a:t>  (146 feet)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Autonomous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S</a:t>
                      </a:r>
                      <a:r>
                        <a:rPr lang="en-US" sz="2400" baseline="-25000" dirty="0"/>
                        <a:t>a</a:t>
                      </a:r>
                      <a:r>
                        <a:rPr lang="en-US" sz="2400" dirty="0"/>
                        <a:t>  (73</a:t>
                      </a:r>
                      <a:r>
                        <a:rPr lang="en-US" sz="2400" baseline="0" dirty="0"/>
                        <a:t> feet)</a:t>
                      </a:r>
                      <a:endParaRPr lang="en-US" sz="2400" dirty="0"/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Regular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/>
                        <a:t>S</a:t>
                      </a:r>
                      <a:r>
                        <a:rPr lang="en-US" sz="2400" baseline="-25000" dirty="0" err="1"/>
                        <a:t>r</a:t>
                      </a:r>
                      <a:r>
                        <a:rPr lang="en-US" sz="2400" dirty="0"/>
                        <a:t>  (146 feet)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r>
                        <a:rPr lang="en-US" sz="2400" dirty="0"/>
                        <a:t>Regular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Connected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/>
                        <a:t>S</a:t>
                      </a:r>
                      <a:r>
                        <a:rPr lang="en-US" sz="2400" baseline="-25000" dirty="0" err="1"/>
                        <a:t>r</a:t>
                      </a:r>
                      <a:r>
                        <a:rPr lang="en-US" sz="2400" dirty="0"/>
                        <a:t>  (146 feet)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Autonomous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S</a:t>
                      </a:r>
                      <a:r>
                        <a:rPr lang="en-US" sz="2400" baseline="-25000" dirty="0"/>
                        <a:t>a</a:t>
                      </a:r>
                      <a:r>
                        <a:rPr lang="en-US" sz="2400" dirty="0"/>
                        <a:t>  (73</a:t>
                      </a:r>
                      <a:r>
                        <a:rPr lang="en-US" sz="2400" baseline="0" dirty="0"/>
                        <a:t> feet)</a:t>
                      </a:r>
                      <a:endParaRPr lang="en-US" sz="2400" dirty="0"/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Regular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/>
                        <a:t>S</a:t>
                      </a:r>
                      <a:r>
                        <a:rPr lang="en-US" sz="2400" baseline="-25000" dirty="0" err="1"/>
                        <a:t>r</a:t>
                      </a:r>
                      <a:r>
                        <a:rPr lang="en-US" sz="2400" dirty="0"/>
                        <a:t>  (146 feet)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B3BA6-3831-4DB0-84A3-9889331685B4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11450973" y="159390"/>
            <a:ext cx="528507" cy="486562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935436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AVs freeway capacity improvements: Spacing as function </a:t>
            </a:r>
            <a:r>
              <a:rPr lang="en-US"/>
              <a:t>of penetration (</a:t>
            </a:r>
            <a:r>
              <a:rPr lang="en-US" dirty="0"/>
              <a:t>Mahmassani, 2016) 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203200" y="1783080"/>
          <a:ext cx="118872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Event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Probability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Spacing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Connected vehicle (CV)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</a:t>
                      </a:r>
                      <a:r>
                        <a:rPr lang="en-US" sz="2400" baseline="-25000" dirty="0"/>
                        <a:t>c</a:t>
                      </a:r>
                      <a:endParaRPr lang="en-US" sz="24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Autonomous vehicle (AV)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P</a:t>
                      </a:r>
                      <a:r>
                        <a:rPr lang="en-US" sz="2400" baseline="-25000" dirty="0"/>
                        <a:t>a</a:t>
                      </a:r>
                      <a:endParaRPr lang="en-US" sz="24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Regular vehicle (RV)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</a:t>
                      </a:r>
                      <a:r>
                        <a:rPr lang="en-US" sz="2400" baseline="-25000" dirty="0"/>
                        <a:t>r</a:t>
                      </a:r>
                      <a:r>
                        <a:rPr lang="en-US" sz="2400" dirty="0"/>
                        <a:t> 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CV</a:t>
                      </a:r>
                      <a:r>
                        <a:rPr lang="en-US" sz="2400" baseline="0" dirty="0"/>
                        <a:t> follows CV</a:t>
                      </a:r>
                      <a:endParaRPr lang="en-US" sz="24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(P</a:t>
                      </a:r>
                      <a:r>
                        <a:rPr lang="en-US" sz="2400" baseline="-25000" dirty="0"/>
                        <a:t>c</a:t>
                      </a:r>
                      <a:r>
                        <a:rPr lang="en-US" sz="2400" dirty="0"/>
                        <a:t>)</a:t>
                      </a:r>
                      <a:r>
                        <a:rPr lang="en-US" sz="2400" baseline="30000" dirty="0"/>
                        <a:t>2</a:t>
                      </a:r>
                      <a:endParaRPr lang="en-US" sz="24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</a:t>
                      </a:r>
                      <a:r>
                        <a:rPr lang="en-US" sz="2400" baseline="-25000" dirty="0"/>
                        <a:t>c</a:t>
                      </a:r>
                      <a:r>
                        <a:rPr lang="en-US" sz="2400" dirty="0"/>
                        <a:t>  (73 feet)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AV follows any vehicle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P</a:t>
                      </a:r>
                      <a:r>
                        <a:rPr lang="en-US" sz="2400" baseline="-25000" dirty="0"/>
                        <a:t>a</a:t>
                      </a:r>
                      <a:endParaRPr lang="en-US" sz="24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S</a:t>
                      </a:r>
                      <a:r>
                        <a:rPr lang="en-US" sz="2400" baseline="-25000" dirty="0"/>
                        <a:t>a</a:t>
                      </a:r>
                      <a:r>
                        <a:rPr lang="en-US" sz="2400" dirty="0"/>
                        <a:t>  (73</a:t>
                      </a:r>
                      <a:r>
                        <a:rPr lang="en-US" sz="2400" baseline="0" dirty="0"/>
                        <a:t> feet)</a:t>
                      </a:r>
                      <a:endParaRPr lang="en-US" sz="2400" dirty="0"/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RV follows any vehicle</a:t>
                      </a:r>
                      <a:r>
                        <a:rPr lang="en-US" sz="2400" baseline="0" dirty="0"/>
                        <a:t> or CV follows AV</a:t>
                      </a:r>
                      <a:endParaRPr lang="en-US" sz="24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/>
                        <a:t>1- </a:t>
                      </a:r>
                      <a:r>
                        <a:rPr lang="en-US" sz="2400" dirty="0"/>
                        <a:t>P</a:t>
                      </a:r>
                      <a:r>
                        <a:rPr lang="en-US" sz="2400" baseline="-25000" dirty="0"/>
                        <a:t>a </a:t>
                      </a:r>
                      <a:r>
                        <a:rPr lang="en-US" sz="2400" dirty="0"/>
                        <a:t>- (</a:t>
                      </a:r>
                      <a:r>
                        <a:rPr lang="en-US" sz="2400"/>
                        <a:t>P</a:t>
                      </a:r>
                      <a:r>
                        <a:rPr lang="en-US" sz="2400" baseline="-25000"/>
                        <a:t>c</a:t>
                      </a:r>
                      <a:r>
                        <a:rPr lang="en-US" sz="2400"/>
                        <a:t>)</a:t>
                      </a:r>
                      <a:r>
                        <a:rPr lang="en-US" sz="2400" baseline="30000"/>
                        <a:t>2 </a:t>
                      </a:r>
                      <a:endParaRPr lang="en-US" sz="24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/>
                        <a:t>S</a:t>
                      </a:r>
                      <a:r>
                        <a:rPr lang="en-US" sz="2400" baseline="-25000" dirty="0" err="1"/>
                        <a:t>r</a:t>
                      </a:r>
                      <a:r>
                        <a:rPr lang="en-US" sz="2400" dirty="0"/>
                        <a:t>  (146 feet)</a:t>
                      </a:r>
                    </a:p>
                    <a:p>
                      <a:endParaRPr lang="en-US" sz="2400" dirty="0"/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Mix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</a:t>
                      </a:r>
                      <a:r>
                        <a:rPr lang="en-US" sz="2400" baseline="-25000" dirty="0"/>
                        <a:t>c</a:t>
                      </a:r>
                      <a:r>
                        <a:rPr lang="en-US" sz="2400" dirty="0"/>
                        <a:t>(P</a:t>
                      </a:r>
                      <a:r>
                        <a:rPr lang="en-US" sz="2400" baseline="-25000" dirty="0"/>
                        <a:t>c</a:t>
                      </a:r>
                      <a:r>
                        <a:rPr lang="en-US" sz="2400" dirty="0"/>
                        <a:t>)</a:t>
                      </a:r>
                      <a:r>
                        <a:rPr lang="en-US" sz="2400" baseline="30000" dirty="0"/>
                        <a:t>2</a:t>
                      </a:r>
                      <a:r>
                        <a:rPr lang="pt-BR" sz="2400" dirty="0"/>
                        <a:t> + </a:t>
                      </a:r>
                      <a:r>
                        <a:rPr lang="en-US" sz="2400" dirty="0"/>
                        <a:t>S</a:t>
                      </a:r>
                      <a:r>
                        <a:rPr lang="en-US" sz="2400" baseline="-25000" dirty="0"/>
                        <a:t>a</a:t>
                      </a:r>
                      <a:r>
                        <a:rPr lang="pt-BR" sz="2400" dirty="0"/>
                        <a:t>P</a:t>
                      </a:r>
                      <a:r>
                        <a:rPr lang="pt-BR" sz="2400" baseline="-25000" dirty="0"/>
                        <a:t>a</a:t>
                      </a:r>
                      <a:r>
                        <a:rPr lang="pt-BR" sz="2400" dirty="0"/>
                        <a:t> + </a:t>
                      </a:r>
                      <a:r>
                        <a:rPr lang="en-US" sz="2400" dirty="0" err="1"/>
                        <a:t>S</a:t>
                      </a:r>
                      <a:r>
                        <a:rPr lang="en-US" sz="2400" baseline="-25000" dirty="0" err="1"/>
                        <a:t>r</a:t>
                      </a:r>
                      <a:r>
                        <a:rPr lang="en-US" sz="2400" dirty="0"/>
                        <a:t>[1-P</a:t>
                      </a:r>
                      <a:r>
                        <a:rPr lang="en-US" sz="2400" baseline="-25000" dirty="0"/>
                        <a:t>a</a:t>
                      </a:r>
                      <a:r>
                        <a:rPr lang="en-US" sz="2400" dirty="0"/>
                        <a:t>-(P</a:t>
                      </a:r>
                      <a:r>
                        <a:rPr lang="en-US" sz="2400" baseline="-25000" dirty="0"/>
                        <a:t>c</a:t>
                      </a:r>
                      <a:r>
                        <a:rPr lang="en-US" sz="2400" dirty="0"/>
                        <a:t>)</a:t>
                      </a:r>
                      <a:r>
                        <a:rPr lang="en-US" sz="2400" baseline="30000" dirty="0"/>
                        <a:t>2 </a:t>
                      </a:r>
                      <a:r>
                        <a:rPr lang="en-US" sz="2400" dirty="0"/>
                        <a:t>] 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B3BA6-3831-4DB0-84A3-9889331685B4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11450973" y="159390"/>
            <a:ext cx="528507" cy="486562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2225824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AVs freeway capacity improvements (Mahmassani, 2016) 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/>
          </p:nvPr>
        </p:nvGraphicFramePr>
        <p:xfrm>
          <a:off x="838200" y="1859181"/>
          <a:ext cx="10515600" cy="405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Regular vehicles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Connected vehicles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Autonomous vehicles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Average lane capacity, </a:t>
                      </a:r>
                      <a:r>
                        <a:rPr lang="en-US" sz="2800" dirty="0" err="1"/>
                        <a:t>veh</a:t>
                      </a:r>
                      <a:r>
                        <a:rPr lang="en-US" sz="2800" dirty="0"/>
                        <a:t>/h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1,800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2,057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2,400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2,880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3,600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3,600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B3BA6-3831-4DB0-84A3-9889331685B4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11450973" y="159390"/>
            <a:ext cx="528507" cy="486562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5338212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22766"/>
          <a:stretch/>
        </p:blipFill>
        <p:spPr>
          <a:xfrm>
            <a:off x="140758" y="1196622"/>
            <a:ext cx="5526265" cy="2206767"/>
          </a:xfrm>
          <a:prstGeom prst="rect">
            <a:avLst/>
          </a:prstGeom>
        </p:spPr>
      </p:pic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3FD293FA-3DB1-4805-BB17-A7864D3EB4D0}"/>
              </a:ext>
            </a:extLst>
          </p:cNvPr>
          <p:cNvGraphicFramePr>
            <a:graphicFrameLocks/>
          </p:cNvGraphicFramePr>
          <p:nvPr/>
        </p:nvGraphicFramePr>
        <p:xfrm>
          <a:off x="6576127" y="470659"/>
          <a:ext cx="4870803" cy="30723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40758" y="286836"/>
            <a:ext cx="50009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From Yokota et al. Evaluation of AHS effect on mean speed by static method (1998)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758" y="3581377"/>
            <a:ext cx="50009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From Bernhard Friedrich. The Effect of Autonomous Vehicles on Traffic (2016)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091" y="4375028"/>
            <a:ext cx="3810000" cy="7429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84969" y="5342133"/>
            <a:ext cx="328224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Where,</a:t>
            </a:r>
          </a:p>
          <a:p>
            <a:r>
              <a:rPr lang="en-US" sz="1200" dirty="0"/>
              <a:t>	Cm = Capacity</a:t>
            </a:r>
          </a:p>
          <a:p>
            <a:r>
              <a:rPr lang="en-US" sz="1200" dirty="0"/>
              <a:t>	n = Percentage of </a:t>
            </a:r>
            <a:r>
              <a:rPr lang="en-US" sz="1200" dirty="0" err="1"/>
              <a:t>Avs</a:t>
            </a:r>
            <a:endParaRPr lang="en-US" sz="1200" dirty="0"/>
          </a:p>
          <a:p>
            <a:r>
              <a:rPr lang="en-US" sz="1200" dirty="0"/>
              <a:t>	Ta = Headway AV</a:t>
            </a:r>
          </a:p>
          <a:p>
            <a:r>
              <a:rPr lang="en-US" sz="1200" dirty="0"/>
              <a:t>	Th = Average Headway</a:t>
            </a:r>
          </a:p>
          <a:p>
            <a:r>
              <a:rPr lang="en-US" sz="1200" dirty="0"/>
              <a:t>	v = Average Speed (80km/</a:t>
            </a:r>
            <a:r>
              <a:rPr lang="en-US" sz="1200" dirty="0" err="1"/>
              <a:t>hr</a:t>
            </a:r>
            <a:r>
              <a:rPr lang="en-US" sz="1200" dirty="0"/>
              <a:t>)</a:t>
            </a:r>
          </a:p>
          <a:p>
            <a:r>
              <a:rPr lang="en-US" sz="1200" dirty="0"/>
              <a:t>	L = Average Car Length (7.5m)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82605" y="6396335"/>
            <a:ext cx="23368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*Note: Average Headway = 1.15s</a:t>
            </a:r>
          </a:p>
          <a:p>
            <a:r>
              <a:rPr lang="en-US" sz="1200" dirty="0"/>
              <a:t>             AV Headway = 0.5s</a:t>
            </a:r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35BD2762-27FC-4A09-A62C-01857C2ADDDF}"/>
              </a:ext>
            </a:extLst>
          </p:cNvPr>
          <p:cNvGraphicFramePr>
            <a:graphicFrameLocks/>
          </p:cNvGraphicFramePr>
          <p:nvPr/>
        </p:nvGraphicFramePr>
        <p:xfrm>
          <a:off x="6419406" y="3899597"/>
          <a:ext cx="5027524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Oval 9"/>
          <p:cNvSpPr/>
          <p:nvPr/>
        </p:nvSpPr>
        <p:spPr>
          <a:xfrm>
            <a:off x="11450973" y="159390"/>
            <a:ext cx="528507" cy="486562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745960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3789"/>
            <a:ext cx="10515600" cy="1325563"/>
          </a:xfrm>
        </p:spPr>
        <p:txBody>
          <a:bodyPr/>
          <a:lstStyle/>
          <a:p>
            <a:r>
              <a:rPr lang="en-US" dirty="0"/>
              <a:t>Adopted capacity factor as function of AV penetration rate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C8C43-8740-476C-B809-C9C25E84FCA2}" type="slidenum">
              <a:rPr lang="en-US" smtClean="0"/>
              <a:t>29</a:t>
            </a:fld>
            <a:endParaRPr lang="en-US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CEFAC70E-8220-43E4-AC05-9E5D5B5138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61993361"/>
              </p:ext>
            </p:extLst>
          </p:nvPr>
        </p:nvGraphicFramePr>
        <p:xfrm>
          <a:off x="1182847" y="1587790"/>
          <a:ext cx="9068499" cy="4896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Oval 5"/>
          <p:cNvSpPr/>
          <p:nvPr/>
        </p:nvSpPr>
        <p:spPr>
          <a:xfrm>
            <a:off x="11450973" y="159390"/>
            <a:ext cx="528507" cy="486562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483695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8288"/>
            <a:ext cx="10515600" cy="1325563"/>
          </a:xfrm>
        </p:spPr>
        <p:txBody>
          <a:bodyPr/>
          <a:lstStyle/>
          <a:p>
            <a:r>
              <a:rPr lang="en-US" dirty="0"/>
              <a:t>Adopted speed factor as function of AV penetration rate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C8C43-8740-476C-B809-C9C25E84FCA2}" type="slidenum">
              <a:rPr lang="en-US" smtClean="0"/>
              <a:t>30</a:t>
            </a:fld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11450973" y="159390"/>
            <a:ext cx="528507" cy="486562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3E60AD5D-C72C-4F9C-9BFA-E813261B7F4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02207239"/>
              </p:ext>
            </p:extLst>
          </p:nvPr>
        </p:nvGraphicFramePr>
        <p:xfrm>
          <a:off x="1501629" y="1413851"/>
          <a:ext cx="8668838" cy="52115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6520621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0400" y="0"/>
            <a:ext cx="10515600" cy="1325563"/>
          </a:xfrm>
        </p:spPr>
        <p:txBody>
          <a:bodyPr/>
          <a:lstStyle/>
          <a:p>
            <a:r>
              <a:rPr lang="en-US" dirty="0"/>
              <a:t>Vehicle spacing factor as a sanity check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C8C43-8740-476C-B809-C9C25E84FCA2}" type="slidenum">
              <a:rPr lang="en-US" smtClean="0"/>
              <a:t>31</a:t>
            </a:fld>
            <a:endParaRPr lang="en-US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5576328"/>
              </p:ext>
            </p:extLst>
          </p:nvPr>
        </p:nvGraphicFramePr>
        <p:xfrm>
          <a:off x="114299" y="1095001"/>
          <a:ext cx="11861802" cy="56573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7901">
                  <a:extLst>
                    <a:ext uri="{9D8B030D-6E8A-4147-A177-3AD203B41FA5}">
                      <a16:colId xmlns:a16="http://schemas.microsoft.com/office/drawing/2014/main" val="2959666447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2676087128"/>
                    </a:ext>
                  </a:extLst>
                </a:gridCol>
                <a:gridCol w="2717800">
                  <a:extLst>
                    <a:ext uri="{9D8B030D-6E8A-4147-A177-3AD203B41FA5}">
                      <a16:colId xmlns:a16="http://schemas.microsoft.com/office/drawing/2014/main" val="4064786492"/>
                    </a:ext>
                  </a:extLst>
                </a:gridCol>
                <a:gridCol w="1976967">
                  <a:extLst>
                    <a:ext uri="{9D8B030D-6E8A-4147-A177-3AD203B41FA5}">
                      <a16:colId xmlns:a16="http://schemas.microsoft.com/office/drawing/2014/main" val="1107705611"/>
                    </a:ext>
                  </a:extLst>
                </a:gridCol>
                <a:gridCol w="1976967">
                  <a:extLst>
                    <a:ext uri="{9D8B030D-6E8A-4147-A177-3AD203B41FA5}">
                      <a16:colId xmlns:a16="http://schemas.microsoft.com/office/drawing/2014/main" val="909219833"/>
                    </a:ext>
                  </a:extLst>
                </a:gridCol>
                <a:gridCol w="1976967">
                  <a:extLst>
                    <a:ext uri="{9D8B030D-6E8A-4147-A177-3AD203B41FA5}">
                      <a16:colId xmlns:a16="http://schemas.microsoft.com/office/drawing/2014/main" val="810798281"/>
                    </a:ext>
                  </a:extLst>
                </a:gridCol>
              </a:tblGrid>
              <a:tr h="292902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%AV</a:t>
                      </a:r>
                    </a:p>
                  </a:txBody>
                  <a:tcPr marL="0" marR="0" marT="0" marB="0" anchor="ctr"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Capacity (v/h)</a:t>
                      </a:r>
                      <a:b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80% increase for 100% AV</a:t>
                      </a:r>
                    </a:p>
                  </a:txBody>
                  <a:tcPr marL="0" marR="0" marT="0" marB="0" anchor="b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If 50% increase in speed is assumed for 100% AV</a:t>
                      </a: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If 50% vehicle spacing reduction is assumed</a:t>
                      </a: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575374"/>
                  </a:ext>
                </a:extLst>
              </a:tr>
              <a:tr h="14879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Speed based on curve (mph)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Derived vehicle spacing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Derived Speed (mph)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Vehicle spacing for mix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809594497"/>
                  </a:ext>
                </a:extLst>
              </a:tr>
              <a:tr h="234436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1,800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161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161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979290064"/>
                  </a:ext>
                </a:extLst>
              </a:tr>
              <a:tr h="234436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5%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1,841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158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157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507733457"/>
                  </a:ext>
                </a:extLst>
              </a:tr>
              <a:tr h="234436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1,884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155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153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217602147"/>
                  </a:ext>
                </a:extLst>
              </a:tr>
              <a:tr h="234436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15%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1,929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152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149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505098270"/>
                  </a:ext>
                </a:extLst>
              </a:tr>
              <a:tr h="234436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20%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1,976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149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145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891199056"/>
                  </a:ext>
                </a:extLst>
              </a:tr>
              <a:tr h="234436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25%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2,025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147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141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331251700"/>
                  </a:ext>
                </a:extLst>
              </a:tr>
              <a:tr h="234436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30%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2,077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144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137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10265404"/>
                  </a:ext>
                </a:extLst>
              </a:tr>
              <a:tr h="234436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35%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2,132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142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133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602498713"/>
                  </a:ext>
                </a:extLst>
              </a:tr>
              <a:tr h="234436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40%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2,189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140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129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108346259"/>
                  </a:ext>
                </a:extLst>
              </a:tr>
              <a:tr h="234436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45%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2,250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139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125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34875827"/>
                  </a:ext>
                </a:extLst>
              </a:tr>
              <a:tr h="234436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2,314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137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121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07005073"/>
                  </a:ext>
                </a:extLst>
              </a:tr>
              <a:tr h="234436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55%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2,382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136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117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778826859"/>
                  </a:ext>
                </a:extLst>
              </a:tr>
              <a:tr h="234436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60%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2,455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135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113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28217350"/>
                  </a:ext>
                </a:extLst>
              </a:tr>
              <a:tr h="234436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65%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2,531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134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109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267880750"/>
                  </a:ext>
                </a:extLst>
              </a:tr>
              <a:tr h="234436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70%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2,613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134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105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973478421"/>
                  </a:ext>
                </a:extLst>
              </a:tr>
              <a:tr h="234436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75%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2,700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133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101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36704613"/>
                  </a:ext>
                </a:extLst>
              </a:tr>
              <a:tr h="234436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80%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2,793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133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517033456"/>
                  </a:ext>
                </a:extLst>
              </a:tr>
              <a:tr h="234436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85%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2,893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133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004898980"/>
                  </a:ext>
                </a:extLst>
              </a:tr>
              <a:tr h="234436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90%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3,000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133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226419592"/>
                  </a:ext>
                </a:extLst>
              </a:tr>
              <a:tr h="234436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95%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3,115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134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538155438"/>
                  </a:ext>
                </a:extLst>
              </a:tr>
              <a:tr h="234436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3,240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134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597891919"/>
                  </a:ext>
                </a:extLst>
              </a:tr>
            </a:tbl>
          </a:graphicData>
        </a:graphic>
      </p:graphicFrame>
      <p:sp>
        <p:nvSpPr>
          <p:cNvPr id="5" name="Oval 4"/>
          <p:cNvSpPr/>
          <p:nvPr/>
        </p:nvSpPr>
        <p:spPr>
          <a:xfrm>
            <a:off x="11450973" y="159390"/>
            <a:ext cx="528507" cy="486562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6025667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Building “ideal” VDF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C8C43-8740-476C-B809-C9C25E84FCA2}" type="slidenum">
              <a:rPr lang="en-US" smtClean="0"/>
              <a:t>32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0563225"/>
              </p:ext>
            </p:extLst>
          </p:nvPr>
        </p:nvGraphicFramePr>
        <p:xfrm>
          <a:off x="419450" y="1961238"/>
          <a:ext cx="6689450" cy="3388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8062">
                  <a:extLst>
                    <a:ext uri="{9D8B030D-6E8A-4147-A177-3AD203B41FA5}">
                      <a16:colId xmlns:a16="http://schemas.microsoft.com/office/drawing/2014/main" val="2314218797"/>
                    </a:ext>
                  </a:extLst>
                </a:gridCol>
                <a:gridCol w="1858437">
                  <a:extLst>
                    <a:ext uri="{9D8B030D-6E8A-4147-A177-3AD203B41FA5}">
                      <a16:colId xmlns:a16="http://schemas.microsoft.com/office/drawing/2014/main" val="2876092104"/>
                    </a:ext>
                  </a:extLst>
                </a:gridCol>
                <a:gridCol w="2192951">
                  <a:extLst>
                    <a:ext uri="{9D8B030D-6E8A-4147-A177-3AD203B41FA5}">
                      <a16:colId xmlns:a16="http://schemas.microsoft.com/office/drawing/2014/main" val="25370567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Formula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Desired property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59861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Capacity as function of penetration rate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C(P)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Monotonically</a:t>
                      </a:r>
                      <a:r>
                        <a:rPr lang="en-US" baseline="0" dirty="0"/>
                        <a:t> increasing w.r.t. </a:t>
                      </a:r>
                      <a:r>
                        <a:rPr lang="en-US" b="1" baseline="0" dirty="0"/>
                        <a:t>P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31809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Speed as function of penetration rate and volume-over-capacity ratio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S[P,V/C(P)]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Monotonically</a:t>
                      </a:r>
                      <a:r>
                        <a:rPr lang="en-US" baseline="0" dirty="0"/>
                        <a:t> increasing w.r.t. </a:t>
                      </a:r>
                      <a:r>
                        <a:rPr lang="en-US" b="1" baseline="0" dirty="0"/>
                        <a:t>P</a:t>
                      </a:r>
                      <a:endParaRPr lang="en-US" b="1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Monotonically</a:t>
                      </a:r>
                      <a:r>
                        <a:rPr lang="en-US" baseline="0" dirty="0"/>
                        <a:t> decreasing w.r.t. </a:t>
                      </a:r>
                      <a:r>
                        <a:rPr lang="en-US" b="1" baseline="0" dirty="0"/>
                        <a:t>V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4489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Spacing (headway) between the vehicles as function of penetration rate and speed 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H{P,S[P,V(C(P)]}</a:t>
                      </a:r>
                      <a:r>
                        <a:rPr lang="en-US" dirty="0"/>
                        <a:t> = </a:t>
                      </a:r>
                      <a:r>
                        <a:rPr lang="en-US" b="1" dirty="0"/>
                        <a:t>S[P,V/C(P)]/C(P)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Monotonically</a:t>
                      </a:r>
                      <a:r>
                        <a:rPr lang="en-US" baseline="0" dirty="0"/>
                        <a:t> decreasing w.r.t. </a:t>
                      </a:r>
                      <a:r>
                        <a:rPr lang="en-US" b="1" baseline="0" dirty="0"/>
                        <a:t>P</a:t>
                      </a:r>
                      <a:endParaRPr lang="en-US" b="1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Monotonically</a:t>
                      </a:r>
                      <a:r>
                        <a:rPr lang="en-US" baseline="0" dirty="0"/>
                        <a:t> decreasing w.r.t. </a:t>
                      </a:r>
                      <a:r>
                        <a:rPr lang="en-US" b="1" baseline="0" dirty="0"/>
                        <a:t>V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420439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7989" y="39633"/>
            <a:ext cx="3917660" cy="348236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7988" y="3466579"/>
            <a:ext cx="3850553" cy="3365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6612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 scenario controls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Switches to toggle to manage scenarios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C8C43-8740-476C-B809-C9C25E84FCA2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0086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 penetration rates by year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7936685" cy="4351338"/>
          </a:xfrm>
        </p:spPr>
        <p:txBody>
          <a:bodyPr/>
          <a:lstStyle/>
          <a:p>
            <a:r>
              <a:rPr lang="en-US" dirty="0"/>
              <a:t>Specified in AVPenetrationRates.csv:</a:t>
            </a:r>
          </a:p>
          <a:p>
            <a:pPr lvl="1"/>
            <a:r>
              <a:rPr lang="en-US" dirty="0"/>
              <a:t>Interpolation for scenario year</a:t>
            </a:r>
          </a:p>
          <a:p>
            <a:r>
              <a:rPr lang="en-US" dirty="0"/>
              <a:t>For mixed scenario (AV share &lt; 100%) :</a:t>
            </a:r>
          </a:p>
          <a:p>
            <a:pPr lvl="1"/>
            <a:r>
              <a:rPr lang="en-US" dirty="0"/>
              <a:t>Household level AV Adoption model</a:t>
            </a:r>
          </a:p>
          <a:p>
            <a:pPr lvl="1"/>
            <a:r>
              <a:rPr lang="en-US" dirty="0"/>
              <a:t>Auto calibrate to match AV share</a:t>
            </a:r>
          </a:p>
          <a:p>
            <a:r>
              <a:rPr lang="en-US" dirty="0"/>
              <a:t>Separate set of rules by AV and Non-AV households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C8C43-8740-476C-B809-C9C25E84FCA2}" type="slidenum">
              <a:rPr lang="en-US" smtClean="0"/>
              <a:t>34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1146" t="1" b="421"/>
          <a:stretch/>
        </p:blipFill>
        <p:spPr>
          <a:xfrm>
            <a:off x="8774885" y="295508"/>
            <a:ext cx="3064428" cy="606084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018165" y="1535185"/>
            <a:ext cx="1484852" cy="226503"/>
          </a:xfrm>
          <a:prstGeom prst="rect">
            <a:avLst/>
          </a:prstGeom>
          <a:solidFill>
            <a:schemeClr val="accent1">
              <a:alpha val="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8759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scenario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227040" cy="4351338"/>
          </a:xfrm>
        </p:spPr>
        <p:txBody>
          <a:bodyPr/>
          <a:lstStyle/>
          <a:p>
            <a:r>
              <a:rPr lang="en-US" dirty="0"/>
              <a:t>Specified in PARAMETERS.TXT file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C8C43-8740-476C-B809-C9C25E84FCA2}" type="slidenum">
              <a:rPr lang="en-US" smtClean="0"/>
              <a:t>35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1982947" y="2739310"/>
            <a:ext cx="7932839" cy="2596087"/>
            <a:chOff x="6286500" y="1690688"/>
            <a:chExt cx="5905500" cy="1905000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86500" y="1690688"/>
              <a:ext cx="5905500" cy="1905000"/>
            </a:xfrm>
            <a:prstGeom prst="rect">
              <a:avLst/>
            </a:prstGeom>
          </p:spPr>
        </p:pic>
        <p:sp>
          <p:nvSpPr>
            <p:cNvPr id="6" name="Rectangle 5"/>
            <p:cNvSpPr/>
            <p:nvPr/>
          </p:nvSpPr>
          <p:spPr>
            <a:xfrm>
              <a:off x="6660858" y="3342874"/>
              <a:ext cx="1736521" cy="180502"/>
            </a:xfrm>
            <a:prstGeom prst="rect">
              <a:avLst/>
            </a:prstGeom>
            <a:solidFill>
              <a:schemeClr val="accent1">
                <a:alpha val="3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40350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scenario controls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C8C43-8740-476C-B809-C9C25E84FCA2}" type="slidenum">
              <a:rPr lang="en-US" smtClean="0"/>
              <a:t>36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939566" y="2506662"/>
            <a:ext cx="9576033" cy="4351338"/>
          </a:xfrm>
        </p:spPr>
        <p:txBody>
          <a:bodyPr/>
          <a:lstStyle/>
          <a:p>
            <a:r>
              <a:rPr lang="en-US" dirty="0" err="1"/>
              <a:t>avIVTTBonus</a:t>
            </a:r>
            <a:r>
              <a:rPr lang="en-US" dirty="0"/>
              <a:t>: Auto in-vehicle productivity bonus:</a:t>
            </a:r>
          </a:p>
          <a:p>
            <a:pPr lvl="1"/>
            <a:r>
              <a:rPr lang="en-US" dirty="0"/>
              <a:t>Accessibility calculator</a:t>
            </a:r>
          </a:p>
          <a:p>
            <a:pPr lvl="1"/>
            <a:r>
              <a:rPr lang="en-US" dirty="0"/>
              <a:t>Mode choice</a:t>
            </a:r>
          </a:p>
          <a:p>
            <a:r>
              <a:rPr lang="en-US" dirty="0"/>
              <a:t> </a:t>
            </a:r>
            <a:r>
              <a:rPr lang="en-US" dirty="0" err="1"/>
              <a:t>minAgeAuto</a:t>
            </a:r>
            <a:r>
              <a:rPr lang="en-US" dirty="0"/>
              <a:t>: Minimum age at which a child is allowed to travel in AV without any adult in the car:</a:t>
            </a:r>
          </a:p>
          <a:p>
            <a:pPr lvl="1"/>
            <a:r>
              <a:rPr lang="en-US" dirty="0"/>
              <a:t>School escorting</a:t>
            </a:r>
          </a:p>
          <a:p>
            <a:pPr lvl="1"/>
            <a:r>
              <a:rPr lang="en-US" dirty="0"/>
              <a:t>Mode choice</a:t>
            </a:r>
          </a:p>
          <a:p>
            <a:pPr lvl="1"/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t="34173" b="27641"/>
          <a:stretch/>
        </p:blipFill>
        <p:spPr>
          <a:xfrm>
            <a:off x="939566" y="1690688"/>
            <a:ext cx="10889840" cy="48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2530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scenario controls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C8C43-8740-476C-B809-C9C25E84FCA2}" type="slidenum">
              <a:rPr lang="en-US" smtClean="0"/>
              <a:t>37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922788" y="2506662"/>
            <a:ext cx="9592811" cy="4351338"/>
          </a:xfrm>
        </p:spPr>
        <p:txBody>
          <a:bodyPr/>
          <a:lstStyle/>
          <a:p>
            <a:r>
              <a:rPr lang="en-US" dirty="0" err="1"/>
              <a:t>avCapFacFreeway</a:t>
            </a:r>
            <a:r>
              <a:rPr lang="en-US" dirty="0"/>
              <a:t>, </a:t>
            </a:r>
            <a:r>
              <a:rPr lang="en-US" dirty="0" err="1"/>
              <a:t>avCapFacArterial</a:t>
            </a:r>
            <a:r>
              <a:rPr lang="en-US" dirty="0"/>
              <a:t>: Ratio of road capacity for 100% AV to 0% AV scenarios</a:t>
            </a:r>
          </a:p>
          <a:p>
            <a:pPr lvl="1"/>
            <a:r>
              <a:rPr lang="en-US" dirty="0"/>
              <a:t>Highway assignment and skimming</a:t>
            </a:r>
          </a:p>
          <a:p>
            <a:r>
              <a:rPr lang="en-US" dirty="0" err="1"/>
              <a:t>avSpeedFacFreeway</a:t>
            </a:r>
            <a:r>
              <a:rPr lang="en-US" dirty="0"/>
              <a:t>, </a:t>
            </a:r>
            <a:r>
              <a:rPr lang="en-US" dirty="0" err="1"/>
              <a:t>avSpeedFacArterial</a:t>
            </a:r>
            <a:r>
              <a:rPr lang="en-US" dirty="0"/>
              <a:t>: Ratio of speed for 100% AV to 0% AV scenarios</a:t>
            </a:r>
          </a:p>
          <a:p>
            <a:pPr lvl="1"/>
            <a:r>
              <a:rPr lang="en-US" dirty="0"/>
              <a:t>Highway assignment and skimming</a:t>
            </a:r>
          </a:p>
          <a:p>
            <a:r>
              <a:rPr lang="en-US" dirty="0" err="1"/>
              <a:t>tncDiscount</a:t>
            </a:r>
            <a:r>
              <a:rPr lang="en-US" dirty="0"/>
              <a:t>: Crude surrogate for cheap driverless taxi</a:t>
            </a:r>
          </a:p>
          <a:p>
            <a:pPr lvl="1"/>
            <a:r>
              <a:rPr lang="en-US" dirty="0"/>
              <a:t>Mode choice</a:t>
            </a:r>
          </a:p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896" y="1484312"/>
            <a:ext cx="9222968" cy="1061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1063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AV Parameters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C8C43-8740-476C-B809-C9C25E84FCA2}" type="slidenum">
              <a:rPr lang="en-US" smtClean="0"/>
              <a:t>38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1509966"/>
            <a:ext cx="9592811" cy="4351338"/>
          </a:xfrm>
        </p:spPr>
        <p:txBody>
          <a:bodyPr/>
          <a:lstStyle/>
          <a:p>
            <a:r>
              <a:rPr lang="en-US" dirty="0"/>
              <a:t>K</a:t>
            </a:r>
            <a:r>
              <a:rPr lang="en-US" baseline="-25000" dirty="0"/>
              <a:t>R</a:t>
            </a:r>
            <a:r>
              <a:rPr lang="en-US" dirty="0"/>
              <a:t>NR bonus: Constant to nullify the inconvenience of KNR</a:t>
            </a:r>
          </a:p>
          <a:p>
            <a:r>
              <a:rPr lang="en-US" dirty="0"/>
              <a:t>“No escort” bonus: Constant to cancel out the effect of constants </a:t>
            </a:r>
            <a:r>
              <a:rPr lang="en-US"/>
              <a:t>for escorting </a:t>
            </a:r>
          </a:p>
          <a:p>
            <a:r>
              <a:rPr lang="en-US"/>
              <a:t>Not </a:t>
            </a:r>
            <a:r>
              <a:rPr lang="en-US" dirty="0"/>
              <a:t>scenario specific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73669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for modeled scenarios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 of first results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C8C43-8740-476C-B809-C9C25E84FCA2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4009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C8C43-8740-476C-B809-C9C25E84FCA2}" type="slidenum">
              <a:rPr lang="en-US" smtClean="0"/>
              <a:t>40</a:t>
            </a:fld>
            <a:endParaRPr lang="en-US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/>
          </p:nvPr>
        </p:nvGraphicFramePr>
        <p:xfrm>
          <a:off x="317841" y="1396418"/>
          <a:ext cx="11123800" cy="4439688"/>
        </p:xfrm>
        <a:graphic>
          <a:graphicData uri="http://schemas.openxmlformats.org/drawingml/2006/table">
            <a:tbl>
              <a:tblPr/>
              <a:tblGrid>
                <a:gridCol w="839155">
                  <a:extLst>
                    <a:ext uri="{9D8B030D-6E8A-4147-A177-3AD203B41FA5}">
                      <a16:colId xmlns:a16="http://schemas.microsoft.com/office/drawing/2014/main" val="1295876962"/>
                    </a:ext>
                  </a:extLst>
                </a:gridCol>
                <a:gridCol w="1396854">
                  <a:extLst>
                    <a:ext uri="{9D8B030D-6E8A-4147-A177-3AD203B41FA5}">
                      <a16:colId xmlns:a16="http://schemas.microsoft.com/office/drawing/2014/main" val="4058521765"/>
                    </a:ext>
                  </a:extLst>
                </a:gridCol>
                <a:gridCol w="1167224">
                  <a:extLst>
                    <a:ext uri="{9D8B030D-6E8A-4147-A177-3AD203B41FA5}">
                      <a16:colId xmlns:a16="http://schemas.microsoft.com/office/drawing/2014/main" val="928005958"/>
                    </a:ext>
                  </a:extLst>
                </a:gridCol>
                <a:gridCol w="1181289">
                  <a:extLst>
                    <a:ext uri="{9D8B030D-6E8A-4147-A177-3AD203B41FA5}">
                      <a16:colId xmlns:a16="http://schemas.microsoft.com/office/drawing/2014/main" val="1134746144"/>
                    </a:ext>
                  </a:extLst>
                </a:gridCol>
                <a:gridCol w="1181289">
                  <a:extLst>
                    <a:ext uri="{9D8B030D-6E8A-4147-A177-3AD203B41FA5}">
                      <a16:colId xmlns:a16="http://schemas.microsoft.com/office/drawing/2014/main" val="3026895047"/>
                    </a:ext>
                  </a:extLst>
                </a:gridCol>
                <a:gridCol w="871903">
                  <a:extLst>
                    <a:ext uri="{9D8B030D-6E8A-4147-A177-3AD203B41FA5}">
                      <a16:colId xmlns:a16="http://schemas.microsoft.com/office/drawing/2014/main" val="4048057119"/>
                    </a:ext>
                  </a:extLst>
                </a:gridCol>
                <a:gridCol w="843779">
                  <a:extLst>
                    <a:ext uri="{9D8B030D-6E8A-4147-A177-3AD203B41FA5}">
                      <a16:colId xmlns:a16="http://schemas.microsoft.com/office/drawing/2014/main" val="2298075358"/>
                    </a:ext>
                  </a:extLst>
                </a:gridCol>
                <a:gridCol w="843779">
                  <a:extLst>
                    <a:ext uri="{9D8B030D-6E8A-4147-A177-3AD203B41FA5}">
                      <a16:colId xmlns:a16="http://schemas.microsoft.com/office/drawing/2014/main" val="3815065013"/>
                    </a:ext>
                  </a:extLst>
                </a:gridCol>
                <a:gridCol w="1167224">
                  <a:extLst>
                    <a:ext uri="{9D8B030D-6E8A-4147-A177-3AD203B41FA5}">
                      <a16:colId xmlns:a16="http://schemas.microsoft.com/office/drawing/2014/main" val="1310396818"/>
                    </a:ext>
                  </a:extLst>
                </a:gridCol>
                <a:gridCol w="970345">
                  <a:extLst>
                    <a:ext uri="{9D8B030D-6E8A-4147-A177-3AD203B41FA5}">
                      <a16:colId xmlns:a16="http://schemas.microsoft.com/office/drawing/2014/main" val="3639961470"/>
                    </a:ext>
                  </a:extLst>
                </a:gridCol>
                <a:gridCol w="660959">
                  <a:extLst>
                    <a:ext uri="{9D8B030D-6E8A-4147-A177-3AD203B41FA5}">
                      <a16:colId xmlns:a16="http://schemas.microsoft.com/office/drawing/2014/main" val="900370700"/>
                    </a:ext>
                  </a:extLst>
                </a:gridCol>
              </a:tblGrid>
              <a:tr h="277422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Scenario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Scenario name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AV proportion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Capacity improvement factor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Speed improvement factor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Zero resulting intersection delay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IVTT Discount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Minimum age travel alone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TNC Discount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5296257"/>
                  </a:ext>
                </a:extLst>
              </a:tr>
              <a:tr h="7224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Highway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Arterial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Highway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Arterial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3474891"/>
                  </a:ext>
                </a:extLst>
              </a:tr>
              <a:tr h="722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Base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4892577"/>
                  </a:ext>
                </a:extLst>
              </a:tr>
              <a:tr h="722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 capacity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1.25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6582101"/>
                  </a:ext>
                </a:extLst>
              </a:tr>
              <a:tr h="722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Med capacity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1.25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1.25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0717547"/>
                  </a:ext>
                </a:extLst>
              </a:tr>
              <a:tr h="722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Low capacity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1.15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1.25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6492786"/>
                  </a:ext>
                </a:extLst>
              </a:tr>
              <a:tr h="722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Car use impact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1426457"/>
                  </a:ext>
                </a:extLst>
              </a:tr>
              <a:tr h="14449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 IVTT discount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8875483"/>
                  </a:ext>
                </a:extLst>
              </a:tr>
              <a:tr h="14449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Moderate IVTT discount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25%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8324142"/>
                  </a:ext>
                </a:extLst>
              </a:tr>
              <a:tr h="14449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Moderate travel age threshold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619990"/>
                  </a:ext>
                </a:extLst>
              </a:tr>
              <a:tr h="2167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Moderate travel age threshold, TNC discount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3345740"/>
                  </a:ext>
                </a:extLst>
              </a:tr>
              <a:tr h="14449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Low travel age threshold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2344622"/>
                  </a:ext>
                </a:extLst>
              </a:tr>
              <a:tr h="2167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 capacity, high IVTT discount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1.25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4480342"/>
                  </a:ext>
                </a:extLst>
              </a:tr>
              <a:tr h="895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Cheap Taxi</a:t>
                      </a:r>
                    </a:p>
                  </a:txBody>
                  <a:tcPr marL="3612" marR="3612" marT="36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6954013"/>
                  </a:ext>
                </a:extLst>
              </a:tr>
              <a:tr h="29981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Cheap Taxi, moderate travel age threshold</a:t>
                      </a:r>
                    </a:p>
                  </a:txBody>
                  <a:tcPr marL="3612" marR="3612" marT="36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09529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124763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C8C43-8740-476C-B809-C9C25E84FCA2}" type="slidenum">
              <a:rPr lang="en-US" smtClean="0"/>
              <a:t>41</a:t>
            </a:fld>
            <a:endParaRPr lang="en-US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/>
          </p:nvPr>
        </p:nvGraphicFramePr>
        <p:xfrm>
          <a:off x="316900" y="1356270"/>
          <a:ext cx="11123800" cy="4578006"/>
        </p:xfrm>
        <a:graphic>
          <a:graphicData uri="http://schemas.openxmlformats.org/drawingml/2006/table">
            <a:tbl>
              <a:tblPr/>
              <a:tblGrid>
                <a:gridCol w="783171">
                  <a:extLst>
                    <a:ext uri="{9D8B030D-6E8A-4147-A177-3AD203B41FA5}">
                      <a16:colId xmlns:a16="http://schemas.microsoft.com/office/drawing/2014/main" val="1295876962"/>
                    </a:ext>
                  </a:extLst>
                </a:gridCol>
                <a:gridCol w="1452838">
                  <a:extLst>
                    <a:ext uri="{9D8B030D-6E8A-4147-A177-3AD203B41FA5}">
                      <a16:colId xmlns:a16="http://schemas.microsoft.com/office/drawing/2014/main" val="4058521765"/>
                    </a:ext>
                  </a:extLst>
                </a:gridCol>
                <a:gridCol w="1167224">
                  <a:extLst>
                    <a:ext uri="{9D8B030D-6E8A-4147-A177-3AD203B41FA5}">
                      <a16:colId xmlns:a16="http://schemas.microsoft.com/office/drawing/2014/main" val="928005958"/>
                    </a:ext>
                  </a:extLst>
                </a:gridCol>
                <a:gridCol w="1181289">
                  <a:extLst>
                    <a:ext uri="{9D8B030D-6E8A-4147-A177-3AD203B41FA5}">
                      <a16:colId xmlns:a16="http://schemas.microsoft.com/office/drawing/2014/main" val="1134746144"/>
                    </a:ext>
                  </a:extLst>
                </a:gridCol>
                <a:gridCol w="1181289">
                  <a:extLst>
                    <a:ext uri="{9D8B030D-6E8A-4147-A177-3AD203B41FA5}">
                      <a16:colId xmlns:a16="http://schemas.microsoft.com/office/drawing/2014/main" val="3026895047"/>
                    </a:ext>
                  </a:extLst>
                </a:gridCol>
                <a:gridCol w="871903">
                  <a:extLst>
                    <a:ext uri="{9D8B030D-6E8A-4147-A177-3AD203B41FA5}">
                      <a16:colId xmlns:a16="http://schemas.microsoft.com/office/drawing/2014/main" val="4048057119"/>
                    </a:ext>
                  </a:extLst>
                </a:gridCol>
                <a:gridCol w="843779">
                  <a:extLst>
                    <a:ext uri="{9D8B030D-6E8A-4147-A177-3AD203B41FA5}">
                      <a16:colId xmlns:a16="http://schemas.microsoft.com/office/drawing/2014/main" val="2298075358"/>
                    </a:ext>
                  </a:extLst>
                </a:gridCol>
                <a:gridCol w="843779">
                  <a:extLst>
                    <a:ext uri="{9D8B030D-6E8A-4147-A177-3AD203B41FA5}">
                      <a16:colId xmlns:a16="http://schemas.microsoft.com/office/drawing/2014/main" val="3815065013"/>
                    </a:ext>
                  </a:extLst>
                </a:gridCol>
                <a:gridCol w="1167224">
                  <a:extLst>
                    <a:ext uri="{9D8B030D-6E8A-4147-A177-3AD203B41FA5}">
                      <a16:colId xmlns:a16="http://schemas.microsoft.com/office/drawing/2014/main" val="1310396818"/>
                    </a:ext>
                  </a:extLst>
                </a:gridCol>
                <a:gridCol w="970345">
                  <a:extLst>
                    <a:ext uri="{9D8B030D-6E8A-4147-A177-3AD203B41FA5}">
                      <a16:colId xmlns:a16="http://schemas.microsoft.com/office/drawing/2014/main" val="3639961470"/>
                    </a:ext>
                  </a:extLst>
                </a:gridCol>
                <a:gridCol w="660959">
                  <a:extLst>
                    <a:ext uri="{9D8B030D-6E8A-4147-A177-3AD203B41FA5}">
                      <a16:colId xmlns:a16="http://schemas.microsoft.com/office/drawing/2014/main" val="900370700"/>
                    </a:ext>
                  </a:extLst>
                </a:gridCol>
              </a:tblGrid>
              <a:tr h="19834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Scenario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Scenario name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AV proportion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Capacity improvement factor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Speed improvement factor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Zero resulting intersection delay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IVTT Discount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Minimum age travel alone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TNC Discount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5296257"/>
                  </a:ext>
                </a:extLst>
              </a:tr>
              <a:tr h="4337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Highway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Arterial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Highway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Arterial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3474891"/>
                  </a:ext>
                </a:extLst>
              </a:tr>
              <a:tr h="3176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Cheap Taxi, high productivity bonus</a:t>
                      </a:r>
                    </a:p>
                  </a:txBody>
                  <a:tcPr marL="3612" marR="3612" marT="36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0692223"/>
                  </a:ext>
                </a:extLst>
              </a:tr>
              <a:tr h="39483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25% AV, med capacity, high IVTT discount</a:t>
                      </a:r>
                    </a:p>
                  </a:txBody>
                  <a:tcPr marL="3612" marR="3612" marT="36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25%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1.25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1.25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9562997"/>
                  </a:ext>
                </a:extLst>
              </a:tr>
              <a:tr h="39483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25% AV, med capacity, low IVTT discount</a:t>
                      </a:r>
                    </a:p>
                  </a:txBody>
                  <a:tcPr marL="3612" marR="3612" marT="36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25%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1.25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1.25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5072685"/>
                  </a:ext>
                </a:extLst>
              </a:tr>
              <a:tr h="39483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50% AV, med capacity, high IVTT discount</a:t>
                      </a:r>
                    </a:p>
                  </a:txBody>
                  <a:tcPr marL="3612" marR="3612" marT="36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1.25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1.25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7763152"/>
                  </a:ext>
                </a:extLst>
              </a:tr>
              <a:tr h="39483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50% AV, med capacity, low IVTT discount</a:t>
                      </a:r>
                    </a:p>
                  </a:txBody>
                  <a:tcPr marL="3612" marR="3612" marT="36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1.25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1.25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6963962"/>
                  </a:ext>
                </a:extLst>
              </a:tr>
              <a:tr h="39483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75% AV, med capacity, high IVTT discount</a:t>
                      </a:r>
                    </a:p>
                  </a:txBody>
                  <a:tcPr marL="3612" marR="3612" marT="36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75%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1.25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1.25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388960"/>
                  </a:ext>
                </a:extLst>
              </a:tr>
              <a:tr h="39483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75% AV, med capacity, low IVTT discount</a:t>
                      </a:r>
                    </a:p>
                  </a:txBody>
                  <a:tcPr marL="3612" marR="3612" marT="36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75%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1.25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1.25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3479010"/>
                  </a:ext>
                </a:extLst>
              </a:tr>
              <a:tr h="52558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 capacity, high speed, zero resulting intersection delays</a:t>
                      </a:r>
                    </a:p>
                  </a:txBody>
                  <a:tcPr marL="3612" marR="3612" marT="36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1.25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7704107"/>
                  </a:ext>
                </a:extLst>
              </a:tr>
              <a:tr h="52558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 capacity, high speed, zero resulting intersection delays</a:t>
                      </a:r>
                    </a:p>
                  </a:txBody>
                  <a:tcPr marL="3612" marR="3612" marT="36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1.25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3612" marR="3612" marT="36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89374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17800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 of IVTT bonus on accessibility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25% IVTT Bonus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0" dirty="0"/>
              <a:t>50% IVTT Bonus</a:t>
            </a:r>
          </a:p>
        </p:txBody>
      </p:sp>
      <p:pic>
        <p:nvPicPr>
          <p:cNvPr id="13" name="Content Placeholder 12"/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483093" y="2505075"/>
            <a:ext cx="4561401" cy="3684588"/>
          </a:xfrm>
          <a:prstGeom prst="rect">
            <a:avLst/>
          </a:prstGeom>
          <a:effectLst>
            <a:glow rad="139700">
              <a:schemeClr val="accent1">
                <a:alpha val="40000"/>
              </a:schemeClr>
            </a:glow>
          </a:effec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C8C43-8740-476C-B809-C9C25E84FCA2}" type="slidenum">
              <a:rPr lang="en-US" smtClean="0"/>
              <a:t>42</a:t>
            </a:fld>
            <a:endParaRPr lang="en-US"/>
          </a:p>
        </p:txBody>
      </p:sp>
      <p:pic>
        <p:nvPicPr>
          <p:cNvPr id="12" name="Content Placeholder 11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983954" y="2505075"/>
            <a:ext cx="4869455" cy="3684588"/>
          </a:xfrm>
          <a:prstGeom prst="rect">
            <a:avLst/>
          </a:prstGeom>
          <a:effectLst>
            <a:glow rad="139700">
              <a:schemeClr val="accent1">
                <a:alpha val="40000"/>
              </a:schemeClr>
            </a:glow>
          </a:effectLst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9810" y="5828017"/>
            <a:ext cx="3682190" cy="1029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13269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 on Activity Participation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C8C43-8740-476C-B809-C9C25E84FCA2}" type="slidenum">
              <a:rPr lang="en-US" smtClean="0"/>
              <a:t>43</a:t>
            </a:fld>
            <a:endParaRPr lang="en-US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6027" y="1825625"/>
            <a:ext cx="8599946" cy="4351338"/>
          </a:xfrm>
        </p:spPr>
      </p:pic>
    </p:spTree>
    <p:extLst>
      <p:ext uri="{BB962C8B-B14F-4D97-AF65-F5344CB8AC3E}">
        <p14:creationId xmlns:p14="http://schemas.microsoft.com/office/powerpoint/2010/main" val="297858225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 on Average Trip Distance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C8C43-8740-476C-B809-C9C25E84FCA2}" type="slidenum">
              <a:rPr lang="en-US" smtClean="0"/>
              <a:t>44</a:t>
            </a:fld>
            <a:endParaRPr 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7662" y="1825625"/>
            <a:ext cx="7616676" cy="4351338"/>
          </a:xfrm>
        </p:spPr>
      </p:pic>
    </p:spTree>
    <p:extLst>
      <p:ext uri="{BB962C8B-B14F-4D97-AF65-F5344CB8AC3E}">
        <p14:creationId xmlns:p14="http://schemas.microsoft.com/office/powerpoint/2010/main" val="302968078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 on Mode Choice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C8C43-8740-476C-B809-C9C25E84FCA2}" type="slidenum">
              <a:rPr lang="en-US" smtClean="0"/>
              <a:t>45</a:t>
            </a:fld>
            <a:endParaRPr lang="en-US"/>
          </a:p>
        </p:txBody>
      </p:sp>
      <p:pic>
        <p:nvPicPr>
          <p:cNvPr id="10" name="Picture 9"/>
          <p:cNvPicPr/>
          <p:nvPr/>
        </p:nvPicPr>
        <p:blipFill>
          <a:blip r:embed="rId2"/>
          <a:stretch>
            <a:fillRect/>
          </a:stretch>
        </p:blipFill>
        <p:spPr>
          <a:xfrm>
            <a:off x="565639" y="1374970"/>
            <a:ext cx="10539046" cy="526322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174024" y="1376242"/>
            <a:ext cx="1626576" cy="2373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 rot="16200000">
            <a:off x="-122968" y="2252434"/>
            <a:ext cx="1626576" cy="2373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89154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 on Mode Choice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C8C43-8740-476C-B809-C9C25E84FCA2}" type="slidenum">
              <a:rPr lang="en-US" smtClean="0"/>
              <a:t>46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6227" y="2515764"/>
            <a:ext cx="5623769" cy="31654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2482" y="1898907"/>
            <a:ext cx="35642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Spatial distribution of change in share of Auto/Transit tours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l="827" t="1138" r="1938" b="2012"/>
          <a:stretch/>
        </p:blipFill>
        <p:spPr>
          <a:xfrm>
            <a:off x="149290" y="3989593"/>
            <a:ext cx="5626359" cy="286840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290" y="1300446"/>
            <a:ext cx="5626359" cy="362859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0701" y="1592356"/>
            <a:ext cx="2666825" cy="393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55614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 on regional number of trips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735" y="1664624"/>
            <a:ext cx="11896530" cy="5192792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C8C43-8740-476C-B809-C9C25E84FCA2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63055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 on regional VMT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C8C43-8740-476C-B809-C9C25E84FCA2}" type="slidenum">
              <a:rPr lang="en-US" smtClean="0"/>
              <a:t>48</a:t>
            </a:fld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828" y="1557177"/>
            <a:ext cx="11896344" cy="5275462"/>
          </a:xfrm>
        </p:spPr>
      </p:pic>
    </p:spTree>
    <p:extLst>
      <p:ext uri="{BB962C8B-B14F-4D97-AF65-F5344CB8AC3E}">
        <p14:creationId xmlns:p14="http://schemas.microsoft.com/office/powerpoint/2010/main" val="380766767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ZOV trips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828" y="1599122"/>
            <a:ext cx="11896344" cy="5275462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C8C43-8740-476C-B809-C9C25E84FCA2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38629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ZOV VMT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C8C43-8740-476C-B809-C9C25E84FCA2}" type="slidenum">
              <a:rPr lang="en-US" smtClean="0"/>
              <a:t>50</a:t>
            </a:fld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338" y="1560352"/>
            <a:ext cx="11541844" cy="5292836"/>
          </a:xfrm>
        </p:spPr>
      </p:pic>
    </p:spTree>
    <p:extLst>
      <p:ext uri="{BB962C8B-B14F-4D97-AF65-F5344CB8AC3E}">
        <p14:creationId xmlns:p14="http://schemas.microsoft.com/office/powerpoint/2010/main" val="344140990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 on network delay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Delay = ∑(Congested time – free flow time)×link flow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C8C43-8740-476C-B809-C9C25E84FCA2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8682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 on network delay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828" y="1624289"/>
            <a:ext cx="11896344" cy="5275462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C8C43-8740-476C-B809-C9C25E84FCA2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92581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Possible further improvements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C8C43-8740-476C-B809-C9C25E84FCA2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69606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directions for model improvements that relate to AVs 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Moving towards </a:t>
            </a:r>
            <a:r>
              <a:rPr lang="en-US" dirty="0" err="1"/>
              <a:t>AgBM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Identify additional model components to replace or complement probabilistic models with Agent-Based simulation to allow more enforcement of absolute time-space constraints on locations of people/vehicles </a:t>
            </a:r>
          </a:p>
          <a:p>
            <a:r>
              <a:rPr lang="en-US" dirty="0"/>
              <a:t>Integration with advanced network models:</a:t>
            </a:r>
          </a:p>
          <a:p>
            <a:pPr lvl="1"/>
            <a:r>
              <a:rPr lang="en-US" dirty="0"/>
              <a:t>ABM-DTA integration and eventually a complete </a:t>
            </a:r>
            <a:r>
              <a:rPr lang="en-US" dirty="0" err="1"/>
              <a:t>AgBM</a:t>
            </a:r>
            <a:endParaRPr lang="en-US" dirty="0"/>
          </a:p>
          <a:p>
            <a:pPr lvl="1"/>
            <a:r>
              <a:rPr lang="en-US" dirty="0"/>
              <a:t>AV simulation in DTA instead of tweaking capacity/speed/VDF</a:t>
            </a:r>
          </a:p>
          <a:p>
            <a:r>
              <a:rPr lang="en-US" dirty="0"/>
              <a:t>Substitution between in-home and out-of-home activities: </a:t>
            </a:r>
          </a:p>
          <a:p>
            <a:pPr lvl="1"/>
            <a:r>
              <a:rPr lang="en-US" dirty="0"/>
              <a:t>E-shopping/delivery substitution for shopping trips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C8C43-8740-476C-B809-C9C25E84FCA2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13252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9781367"/>
              </p:ext>
            </p:extLst>
          </p:nvPr>
        </p:nvGraphicFramePr>
        <p:xfrm>
          <a:off x="-17913" y="867"/>
          <a:ext cx="12200388" cy="688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63">
                  <a:extLst>
                    <a:ext uri="{9D8B030D-6E8A-4147-A177-3AD203B41FA5}">
                      <a16:colId xmlns:a16="http://schemas.microsoft.com/office/drawing/2014/main" val="1984718030"/>
                    </a:ext>
                  </a:extLst>
                </a:gridCol>
                <a:gridCol w="3149052">
                  <a:extLst>
                    <a:ext uri="{9D8B030D-6E8A-4147-A177-3AD203B41FA5}">
                      <a16:colId xmlns:a16="http://schemas.microsoft.com/office/drawing/2014/main" val="2963257692"/>
                    </a:ext>
                  </a:extLst>
                </a:gridCol>
                <a:gridCol w="2992857">
                  <a:extLst>
                    <a:ext uri="{9D8B030D-6E8A-4147-A177-3AD203B41FA5}">
                      <a16:colId xmlns:a16="http://schemas.microsoft.com/office/drawing/2014/main" val="925886008"/>
                    </a:ext>
                  </a:extLst>
                </a:gridCol>
                <a:gridCol w="1934633">
                  <a:extLst>
                    <a:ext uri="{9D8B030D-6E8A-4147-A177-3AD203B41FA5}">
                      <a16:colId xmlns:a16="http://schemas.microsoft.com/office/drawing/2014/main" val="2282017135"/>
                    </a:ext>
                  </a:extLst>
                </a:gridCol>
                <a:gridCol w="2143783">
                  <a:extLst>
                    <a:ext uri="{9D8B030D-6E8A-4147-A177-3AD203B41FA5}">
                      <a16:colId xmlns:a16="http://schemas.microsoft.com/office/drawing/2014/main" val="2484397950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r>
                        <a:rPr lang="en-US" dirty="0"/>
                        <a:t>Sub-model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dirty="0"/>
                        <a:t>Private vehicles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dirty="0"/>
                        <a:t>For-Hire-Vehicles (TNCs)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470041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Regular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Autonomous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Regular (taxi, Uber)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Autonomous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5016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Penetration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HHs non-adopters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HHs adopters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dirty="0"/>
                        <a:t>Cost per mile assumption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1808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Car ownership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Driven by accessibility improvements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Driven by accessibility improvements 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Currently direct impact is missing,</a:t>
                      </a:r>
                      <a:r>
                        <a:rPr lang="en-US" baseline="0" dirty="0">
                          <a:solidFill>
                            <a:srgbClr val="C00000"/>
                          </a:solidFill>
                        </a:rPr>
                        <a:t> can be added through accessibility extension</a:t>
                      </a:r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8127130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Travel demand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Regular auto in-vehicle time coefficient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AV in-vehicle time coefficient reflecting convenience &amp; productivity 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/>
                        <a:t>Same </a:t>
                      </a:r>
                      <a:r>
                        <a:rPr lang="en-US" dirty="0"/>
                        <a:t>in-vehicle time coefficient shared with regular autos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792736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Common auto availability rules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Relaxed auto availability rules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dirty="0"/>
                        <a:t>Common availability rules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116405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Limited KNR availability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Kriss</a:t>
                      </a:r>
                      <a:r>
                        <a:rPr lang="en-US" dirty="0"/>
                        <a:t>-and-Ride high availability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Kriss</a:t>
                      </a:r>
                      <a:r>
                        <a:rPr lang="en-US" dirty="0"/>
                        <a:t>-and-Ride high availability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681870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Escorting children to school require a HH adult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AVs escort children to school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AVs escort children to school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9636265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r>
                        <a:rPr lang="en-US" dirty="0"/>
                        <a:t>Vehicle</a:t>
                      </a:r>
                      <a:r>
                        <a:rPr lang="en-US" baseline="0" dirty="0"/>
                        <a:t> allocation to drivers or passengers &amp; routing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Intra-household </a:t>
                      </a:r>
                      <a:r>
                        <a:rPr lang="en-US" dirty="0" err="1"/>
                        <a:t>CarTrack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Intra-household </a:t>
                      </a:r>
                      <a:r>
                        <a:rPr lang="en-US" dirty="0" err="1"/>
                        <a:t>CarTrack</a:t>
                      </a:r>
                      <a:r>
                        <a:rPr lang="en-US" dirty="0"/>
                        <a:t> accounting for ZOV and parking choices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Passenger</a:t>
                      </a:r>
                      <a:r>
                        <a:rPr lang="en-US" baseline="0" dirty="0">
                          <a:solidFill>
                            <a:srgbClr val="C00000"/>
                          </a:solidFill>
                        </a:rPr>
                        <a:t> trips are directly translated into vehicle loaded trips, ZOVs ignored,</a:t>
                      </a:r>
                    </a:p>
                    <a:p>
                      <a:r>
                        <a:rPr lang="en-US" baseline="0" dirty="0">
                          <a:solidFill>
                            <a:srgbClr val="C00000"/>
                          </a:solidFill>
                        </a:rPr>
                        <a:t>TNC fleet operation model is needed </a:t>
                      </a:r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612774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Feedback to mode choice (unsatisfied demand for cars)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757882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Feedback to car ownership (unused cars, unsatisfied demand for cars)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7327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Traffic assignment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dirty="0"/>
                        <a:t>Vehicle trips from </a:t>
                      </a:r>
                      <a:r>
                        <a:rPr lang="en-US" dirty="0" err="1"/>
                        <a:t>CarTrack</a:t>
                      </a:r>
                      <a:r>
                        <a:rPr lang="en-US" dirty="0"/>
                        <a:t> including ZOVs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Loaded trips only, ZOVs ignored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170854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C8C43-8740-476C-B809-C9C25E84FCA2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22068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398"/>
            <a:ext cx="10515600" cy="1325563"/>
          </a:xfrm>
        </p:spPr>
        <p:txBody>
          <a:bodyPr/>
          <a:lstStyle/>
          <a:p>
            <a:r>
              <a:rPr lang="en-US" dirty="0"/>
              <a:t>Loose ends and short-term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75794"/>
            <a:ext cx="10515600" cy="527667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Auto ownership model: </a:t>
            </a:r>
          </a:p>
          <a:p>
            <a:pPr lvl="1"/>
            <a:r>
              <a:rPr lang="en-US" dirty="0"/>
              <a:t>Currently not affected by AVs directly</a:t>
            </a:r>
          </a:p>
          <a:p>
            <a:pPr lvl="1"/>
            <a:r>
              <a:rPr lang="en-US" dirty="0"/>
              <a:t>For owned AVs: </a:t>
            </a:r>
          </a:p>
          <a:p>
            <a:pPr lvl="2"/>
            <a:r>
              <a:rPr lang="en-US" dirty="0"/>
              <a:t>(“Unused cars”) Potential for a decrease in the private auto ownership due to the ease in sharing vehicles among household members </a:t>
            </a:r>
          </a:p>
          <a:p>
            <a:pPr lvl="2"/>
            <a:r>
              <a:rPr lang="en-US" dirty="0"/>
              <a:t>(“Unsatisfied demand”) Potential for growth due to the replacement of escorting and overall AV attractiveness  </a:t>
            </a:r>
          </a:p>
          <a:p>
            <a:pPr lvl="1"/>
            <a:r>
              <a:rPr lang="en-US" dirty="0"/>
              <a:t>For shared AVs:</a:t>
            </a:r>
          </a:p>
          <a:p>
            <a:pPr lvl="2"/>
            <a:r>
              <a:rPr lang="en-US" dirty="0"/>
              <a:t>(“Unused cars”) Potential for a decrease in the private auto ownership due to the ease in sharing vehicles among household members </a:t>
            </a:r>
          </a:p>
          <a:p>
            <a:r>
              <a:rPr lang="en-US" dirty="0"/>
              <a:t>Consistent owned car availability and parking consideration in mode choice and </a:t>
            </a:r>
            <a:r>
              <a:rPr lang="en-US" dirty="0" err="1"/>
              <a:t>carTrack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Currently two standalone components that are applied sequentially  </a:t>
            </a:r>
          </a:p>
          <a:p>
            <a:pPr lvl="1"/>
            <a:r>
              <a:rPr lang="en-US" dirty="0"/>
              <a:t>More lines for the model system equilibration: </a:t>
            </a:r>
          </a:p>
          <a:p>
            <a:pPr lvl="2"/>
            <a:r>
              <a:rPr lang="en-US" dirty="0"/>
              <a:t>Inform mode choice that car is not available for a certain trip</a:t>
            </a:r>
          </a:p>
          <a:p>
            <a:pPr lvl="2"/>
            <a:r>
              <a:rPr lang="en-US" dirty="0"/>
              <a:t>Inform mode choice that parking cost can be avoided by repositioning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C8C43-8740-476C-B809-C9C25E84FCA2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49314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 impact on car ownership (aggregate)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C8C43-8740-476C-B809-C9C25E84FCA2}" type="slidenum">
              <a:rPr lang="en-US" smtClean="0"/>
              <a:t>57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075339" y="1795243"/>
            <a:ext cx="187913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Mode-specific accessibilities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9133" y="3415718"/>
            <a:ext cx="187913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Auto</a:t>
            </a:r>
          </a:p>
        </p:txBody>
      </p:sp>
      <p:sp>
        <p:nvSpPr>
          <p:cNvPr id="7" name="Rectangle 6"/>
          <p:cNvSpPr/>
          <p:nvPr/>
        </p:nvSpPr>
        <p:spPr>
          <a:xfrm>
            <a:off x="3853341" y="3408727"/>
            <a:ext cx="187913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Transit</a:t>
            </a:r>
          </a:p>
        </p:txBody>
      </p:sp>
      <p:sp>
        <p:nvSpPr>
          <p:cNvPr id="8" name="Rectangle 7"/>
          <p:cNvSpPr/>
          <p:nvPr/>
        </p:nvSpPr>
        <p:spPr>
          <a:xfrm>
            <a:off x="6279160" y="3393347"/>
            <a:ext cx="187913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Non-Motorized</a:t>
            </a:r>
          </a:p>
        </p:txBody>
      </p:sp>
      <p:sp>
        <p:nvSpPr>
          <p:cNvPr id="9" name="Rectangle 8"/>
          <p:cNvSpPr/>
          <p:nvPr/>
        </p:nvSpPr>
        <p:spPr>
          <a:xfrm>
            <a:off x="8755313" y="3403134"/>
            <a:ext cx="1879134" cy="91440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Taxi/TNC</a:t>
            </a:r>
          </a:p>
        </p:txBody>
      </p:sp>
      <p:cxnSp>
        <p:nvCxnSpPr>
          <p:cNvPr id="11" name="Straight Arrow Connector 10"/>
          <p:cNvCxnSpPr>
            <a:stCxn id="5" idx="2"/>
            <a:endCxn id="6" idx="0"/>
          </p:cNvCxnSpPr>
          <p:nvPr/>
        </p:nvCxnSpPr>
        <p:spPr>
          <a:xfrm flipH="1">
            <a:off x="2358700" y="2709643"/>
            <a:ext cx="3656206" cy="70607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2"/>
            <a:endCxn id="7" idx="0"/>
          </p:cNvCxnSpPr>
          <p:nvPr/>
        </p:nvCxnSpPr>
        <p:spPr>
          <a:xfrm flipH="1">
            <a:off x="4792908" y="2709643"/>
            <a:ext cx="1221998" cy="69908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5" idx="2"/>
            <a:endCxn id="8" idx="0"/>
          </p:cNvCxnSpPr>
          <p:nvPr/>
        </p:nvCxnSpPr>
        <p:spPr>
          <a:xfrm>
            <a:off x="6014906" y="2709643"/>
            <a:ext cx="1203821" cy="68370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5" idx="2"/>
          </p:cNvCxnSpPr>
          <p:nvPr/>
        </p:nvCxnSpPr>
        <p:spPr>
          <a:xfrm>
            <a:off x="6014906" y="2709643"/>
            <a:ext cx="4228052" cy="68370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Arrow: Right 22"/>
          <p:cNvSpPr/>
          <p:nvPr/>
        </p:nvSpPr>
        <p:spPr>
          <a:xfrm>
            <a:off x="151000" y="3498209"/>
            <a:ext cx="1543575" cy="786636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Private AVs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06548" y="4569205"/>
            <a:ext cx="6751745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Current car ownership model is driven by “Car need” index:</a:t>
            </a:r>
          </a:p>
          <a:p>
            <a:pPr algn="ctr"/>
            <a:r>
              <a:rPr lang="en-US" dirty="0"/>
              <a:t>Auto accessibility against transit &amp; non-motorized accessibility </a:t>
            </a:r>
          </a:p>
          <a:p>
            <a:pPr algn="ctr"/>
            <a:r>
              <a:rPr lang="en-US" dirty="0"/>
              <a:t>(taxi/TNC role is negligible)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07946" y="5736674"/>
            <a:ext cx="9226501" cy="91440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Revised car ownership model is driven by “Private car need” index:</a:t>
            </a:r>
          </a:p>
          <a:p>
            <a:pPr algn="ctr"/>
            <a:r>
              <a:rPr lang="en-US" dirty="0"/>
              <a:t>Auto accessibility against transit, non-motorized, and TNC accessibility </a:t>
            </a:r>
          </a:p>
          <a:p>
            <a:pPr algn="ctr"/>
            <a:r>
              <a:rPr lang="en-US" dirty="0"/>
              <a:t>(taxi/TNC role is substantial)</a:t>
            </a:r>
          </a:p>
        </p:txBody>
      </p:sp>
      <p:sp>
        <p:nvSpPr>
          <p:cNvPr id="26" name="Arrow: Left 25"/>
          <p:cNvSpPr/>
          <p:nvPr/>
        </p:nvSpPr>
        <p:spPr>
          <a:xfrm>
            <a:off x="10333846" y="3507162"/>
            <a:ext cx="1452686" cy="752515"/>
          </a:xfrm>
          <a:prstGeom prst="lef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Shared AVs</a:t>
            </a:r>
          </a:p>
        </p:txBody>
      </p:sp>
    </p:spTree>
    <p:extLst>
      <p:ext uri="{BB962C8B-B14F-4D97-AF65-F5344CB8AC3E}">
        <p14:creationId xmlns:p14="http://schemas.microsoft.com/office/powerpoint/2010/main" val="79415080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 impact on car ownership &amp; mode choice (</a:t>
            </a:r>
            <a:r>
              <a:rPr lang="en-US" dirty="0">
                <a:solidFill>
                  <a:srgbClr val="FF0000"/>
                </a:solidFill>
              </a:rPr>
              <a:t>disaggregate Agent-Based outline</a:t>
            </a:r>
            <a:r>
              <a:rPr lang="en-US" dirty="0"/>
              <a:t>)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C8C43-8740-476C-B809-C9C25E84FCA2}" type="slidenum">
              <a:rPr lang="en-US" smtClean="0"/>
              <a:t>58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269998" y="2223082"/>
            <a:ext cx="3682766" cy="6123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Initial HH car ownership</a:t>
            </a:r>
          </a:p>
        </p:txBody>
      </p:sp>
      <p:sp>
        <p:nvSpPr>
          <p:cNvPr id="6" name="Rectangle 5"/>
          <p:cNvSpPr/>
          <p:nvPr/>
        </p:nvSpPr>
        <p:spPr>
          <a:xfrm>
            <a:off x="4269998" y="3231161"/>
            <a:ext cx="3682765" cy="6109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Activity &amp; travel generation choices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269999" y="4197293"/>
            <a:ext cx="3675774" cy="5760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 choice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4271397" y="5782812"/>
            <a:ext cx="3675774" cy="5942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Car allocation (</a:t>
            </a:r>
            <a:r>
              <a:rPr lang="en-US" dirty="0" err="1"/>
              <a:t>carTrack</a:t>
            </a:r>
            <a:r>
              <a:rPr lang="en-US" dirty="0"/>
              <a:t>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91126" y="5793999"/>
            <a:ext cx="3675774" cy="576043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Unused HH cars during the day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0695" y="5803786"/>
            <a:ext cx="3675774" cy="576043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Unsatisfied demand for HH car trips</a:t>
            </a:r>
          </a:p>
        </p:txBody>
      </p:sp>
      <p:cxnSp>
        <p:nvCxnSpPr>
          <p:cNvPr id="12" name="Straight Arrow Connector 11"/>
          <p:cNvCxnSpPr>
            <a:stCxn id="8" idx="3"/>
            <a:endCxn id="9" idx="1"/>
          </p:cNvCxnSpPr>
          <p:nvPr/>
        </p:nvCxnSpPr>
        <p:spPr>
          <a:xfrm>
            <a:off x="7947171" y="6079923"/>
            <a:ext cx="343955" cy="20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8" idx="1"/>
            <a:endCxn id="10" idx="3"/>
          </p:cNvCxnSpPr>
          <p:nvPr/>
        </p:nvCxnSpPr>
        <p:spPr>
          <a:xfrm flipH="1">
            <a:off x="3906469" y="6079923"/>
            <a:ext cx="364928" cy="1188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92524" y="2223081"/>
            <a:ext cx="3675774" cy="61239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Probabilistically remove 1 car </a:t>
            </a:r>
          </a:p>
        </p:txBody>
      </p:sp>
      <p:cxnSp>
        <p:nvCxnSpPr>
          <p:cNvPr id="19" name="Straight Arrow Connector 18"/>
          <p:cNvCxnSpPr>
            <a:stCxn id="9" idx="0"/>
            <a:endCxn id="18" idx="2"/>
          </p:cNvCxnSpPr>
          <p:nvPr/>
        </p:nvCxnSpPr>
        <p:spPr>
          <a:xfrm flipV="1">
            <a:off x="10129013" y="2835479"/>
            <a:ext cx="1398" cy="295852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18" idx="1"/>
            <a:endCxn id="5" idx="3"/>
          </p:cNvCxnSpPr>
          <p:nvPr/>
        </p:nvCxnSpPr>
        <p:spPr>
          <a:xfrm flipH="1">
            <a:off x="7952764" y="2529280"/>
            <a:ext cx="339760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5" idx="2"/>
            <a:endCxn id="6" idx="0"/>
          </p:cNvCxnSpPr>
          <p:nvPr/>
        </p:nvCxnSpPr>
        <p:spPr>
          <a:xfrm>
            <a:off x="6111381" y="2835479"/>
            <a:ext cx="0" cy="39568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6" idx="2"/>
            <a:endCxn id="7" idx="0"/>
          </p:cNvCxnSpPr>
          <p:nvPr/>
        </p:nvCxnSpPr>
        <p:spPr>
          <a:xfrm flipH="1">
            <a:off x="6107886" y="3842159"/>
            <a:ext cx="3495" cy="3551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7" idx="2"/>
            <a:endCxn id="8" idx="0"/>
          </p:cNvCxnSpPr>
          <p:nvPr/>
        </p:nvCxnSpPr>
        <p:spPr>
          <a:xfrm>
            <a:off x="6107886" y="4773336"/>
            <a:ext cx="1398" cy="100947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248871" y="2223081"/>
            <a:ext cx="3675774" cy="61239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Probabilistically add 1 car </a:t>
            </a:r>
          </a:p>
        </p:txBody>
      </p:sp>
      <p:cxnSp>
        <p:nvCxnSpPr>
          <p:cNvPr id="46" name="Straight Arrow Connector 45"/>
          <p:cNvCxnSpPr>
            <a:stCxn id="38" idx="3"/>
            <a:endCxn id="5" idx="1"/>
          </p:cNvCxnSpPr>
          <p:nvPr/>
        </p:nvCxnSpPr>
        <p:spPr>
          <a:xfrm>
            <a:off x="3924645" y="2529280"/>
            <a:ext cx="345353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10" idx="0"/>
            <a:endCxn id="38" idx="2"/>
          </p:cNvCxnSpPr>
          <p:nvPr/>
        </p:nvCxnSpPr>
        <p:spPr>
          <a:xfrm flipV="1">
            <a:off x="2068582" y="2835479"/>
            <a:ext cx="18176" cy="296830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Elbow 53"/>
          <p:cNvCxnSpPr>
            <a:stCxn id="10" idx="0"/>
            <a:endCxn id="57" idx="2"/>
          </p:cNvCxnSpPr>
          <p:nvPr/>
        </p:nvCxnSpPr>
        <p:spPr>
          <a:xfrm rot="5400000" flipH="1" flipV="1">
            <a:off x="2452727" y="5077089"/>
            <a:ext cx="342552" cy="1110843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2281805" y="3498210"/>
            <a:ext cx="1795239" cy="1963024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Probabilistically adopt TNC or rerun mode choice with constrained HH car availability </a:t>
            </a:r>
          </a:p>
        </p:txBody>
      </p:sp>
      <p:cxnSp>
        <p:nvCxnSpPr>
          <p:cNvPr id="59" name="Straight Arrow Connector 58"/>
          <p:cNvCxnSpPr>
            <a:stCxn id="57" idx="3"/>
            <a:endCxn id="7" idx="1"/>
          </p:cNvCxnSpPr>
          <p:nvPr/>
        </p:nvCxnSpPr>
        <p:spPr>
          <a:xfrm>
            <a:off x="4077044" y="4479722"/>
            <a:ext cx="192955" cy="559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359186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399"/>
            <a:ext cx="10515600" cy="624776"/>
          </a:xfrm>
        </p:spPr>
        <p:txBody>
          <a:bodyPr>
            <a:normAutofit fontScale="90000"/>
          </a:bodyPr>
          <a:lstStyle/>
          <a:p>
            <a:r>
              <a:rPr lang="en-US" dirty="0"/>
              <a:t>Strategic directions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6837" y="755009"/>
            <a:ext cx="11820087" cy="5966466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Driver’s license sub-model and constraints beyond just age 16: </a:t>
            </a:r>
          </a:p>
          <a:p>
            <a:pPr lvl="1"/>
            <a:r>
              <a:rPr lang="en-US" dirty="0"/>
              <a:t>Broader impacts of AVs on mobility equity and special population groups</a:t>
            </a:r>
          </a:p>
          <a:p>
            <a:r>
              <a:rPr lang="en-US" dirty="0"/>
              <a:t>Segmentation by vehicle type: </a:t>
            </a:r>
          </a:p>
          <a:p>
            <a:pPr lvl="1"/>
            <a:r>
              <a:rPr lang="en-US" dirty="0"/>
              <a:t>Currently generic vehicle types equally available for each trip: </a:t>
            </a:r>
          </a:p>
          <a:p>
            <a:pPr lvl="1"/>
            <a:r>
              <a:rPr lang="en-US" dirty="0"/>
              <a:t>Coordinated extension of car ownership, mode choice, and car allocation models:</a:t>
            </a:r>
          </a:p>
          <a:p>
            <a:pPr lvl="2"/>
            <a:r>
              <a:rPr lang="en-US" dirty="0"/>
              <a:t>Car ownership by size, age, and make</a:t>
            </a:r>
          </a:p>
          <a:p>
            <a:pPr lvl="2"/>
            <a:r>
              <a:rPr lang="en-US" dirty="0"/>
              <a:t>Mode choice sensitive to operating cost</a:t>
            </a:r>
          </a:p>
          <a:p>
            <a:pPr lvl="2"/>
            <a:r>
              <a:rPr lang="en-US" dirty="0"/>
              <a:t>Policies that differentiate tolls, managed lanes, and/or parking cost by car type  </a:t>
            </a:r>
          </a:p>
          <a:p>
            <a:pPr lvl="2"/>
            <a:r>
              <a:rPr lang="en-US" dirty="0"/>
              <a:t>Car allocation constraint by travel party and car size </a:t>
            </a:r>
          </a:p>
          <a:p>
            <a:r>
              <a:rPr lang="en-US" dirty="0"/>
              <a:t>Join travel and activity participation:</a:t>
            </a:r>
          </a:p>
          <a:p>
            <a:pPr lvl="1"/>
            <a:r>
              <a:rPr lang="en-US" dirty="0"/>
              <a:t>AVs can affect propensity to share rides between the household members as well as for inter-household carpooling  </a:t>
            </a:r>
          </a:p>
          <a:p>
            <a:pPr lvl="1"/>
            <a:r>
              <a:rPr lang="en-US" dirty="0"/>
              <a:t>AV can eliminate necessity of joint travel like escorting children </a:t>
            </a:r>
          </a:p>
          <a:p>
            <a:pPr lvl="1"/>
            <a:r>
              <a:rPr lang="en-US" dirty="0"/>
              <a:t>AV can facilitate collection and distribution of the members of the travel party</a:t>
            </a:r>
          </a:p>
          <a:p>
            <a:r>
              <a:rPr lang="en-US" dirty="0"/>
              <a:t>Randomness in </a:t>
            </a:r>
            <a:r>
              <a:rPr lang="en-US" dirty="0" err="1"/>
              <a:t>CarTrack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People do not always make optimal decisions </a:t>
            </a:r>
          </a:p>
          <a:p>
            <a:pPr lvl="1"/>
            <a:r>
              <a:rPr lang="en-US" dirty="0"/>
              <a:t>Unobserved factors affecting decisions that the modeler does not know </a:t>
            </a:r>
          </a:p>
          <a:p>
            <a:pPr lvl="1"/>
            <a:r>
              <a:rPr lang="en-US" dirty="0"/>
              <a:t>Randomization of the coefficients of the objective function (car allocation priorities by trip purpose) </a:t>
            </a:r>
          </a:p>
          <a:p>
            <a:r>
              <a:rPr lang="en-US" dirty="0"/>
              <a:t>Behavioral and statistical substantiation of schedule adjustments: </a:t>
            </a:r>
          </a:p>
          <a:p>
            <a:pPr lvl="1"/>
            <a:r>
              <a:rPr lang="en-US" dirty="0"/>
              <a:t>Integration with </a:t>
            </a:r>
            <a:r>
              <a:rPr lang="en-US" dirty="0" err="1"/>
              <a:t>iSAM</a:t>
            </a:r>
            <a:r>
              <a:rPr lang="en-US" dirty="0"/>
              <a:t> penalties for trip departure time changes, trip arrival time changes, and activity duration changes with a possible refinement of simple linear penalty functions.</a:t>
            </a:r>
          </a:p>
          <a:p>
            <a:r>
              <a:rPr lang="en-US" dirty="0"/>
              <a:t>Inter-household car sharing and TNCs simulation: </a:t>
            </a:r>
          </a:p>
          <a:p>
            <a:pPr lvl="1"/>
            <a:r>
              <a:rPr lang="en-US" dirty="0"/>
              <a:t>Much bigger problem than intra-household </a:t>
            </a:r>
            <a:r>
              <a:rPr lang="en-US" dirty="0" err="1"/>
              <a:t>CarTrack</a:t>
            </a:r>
            <a:endParaRPr lang="en-US" dirty="0"/>
          </a:p>
          <a:p>
            <a:pPr lvl="1"/>
            <a:r>
              <a:rPr lang="en-US" dirty="0"/>
              <a:t>Heuristics to handle real-time requests for shared AVs instead of predetermine schedule assumed for household-owned AVs</a:t>
            </a:r>
          </a:p>
          <a:p>
            <a:pPr lvl="1"/>
            <a:r>
              <a:rPr lang="en-US" dirty="0"/>
              <a:t>More possibilities to share trips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C8C43-8740-476C-B809-C9C25E84FCA2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16789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short-term surrogate for taxi/TNC ZOV trips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61687"/>
            <a:ext cx="10515600" cy="4748169"/>
          </a:xfrm>
        </p:spPr>
        <p:txBody>
          <a:bodyPr>
            <a:normAutofit/>
          </a:bodyPr>
          <a:lstStyle/>
          <a:p>
            <a:r>
              <a:rPr lang="en-US" dirty="0"/>
              <a:t>Aggregate NHB-trip-type ZOV model by time slice:</a:t>
            </a:r>
          </a:p>
          <a:p>
            <a:pPr lvl="1"/>
            <a:r>
              <a:rPr lang="en-US" dirty="0"/>
              <a:t>Use modeled loaded taxi/TNC trips as the basis for ZOV trip generation</a:t>
            </a:r>
          </a:p>
          <a:p>
            <a:r>
              <a:rPr lang="en-US" dirty="0"/>
              <a:t>Productions are potential passenger (earlier) drop-off places:</a:t>
            </a:r>
          </a:p>
          <a:p>
            <a:pPr lvl="1"/>
            <a:r>
              <a:rPr lang="en-US" dirty="0"/>
              <a:t>Zonal totals for taxi/TNC loaded trip destinations for the (</a:t>
            </a:r>
            <a:r>
              <a:rPr lang="en-US" dirty="0" err="1"/>
              <a:t>previous+given</a:t>
            </a:r>
            <a:r>
              <a:rPr lang="en-US" dirty="0"/>
              <a:t>)/2 time slice</a:t>
            </a:r>
          </a:p>
          <a:p>
            <a:r>
              <a:rPr lang="en-US" dirty="0"/>
              <a:t>Attractions are potential passenger (later) pick-up places</a:t>
            </a:r>
          </a:p>
          <a:p>
            <a:pPr lvl="1"/>
            <a:r>
              <a:rPr lang="en-US" dirty="0"/>
              <a:t>Zonal totals for loaded trip origins for the (</a:t>
            </a:r>
            <a:r>
              <a:rPr lang="en-US" dirty="0" err="1"/>
              <a:t>given+next</a:t>
            </a:r>
            <a:r>
              <a:rPr lang="en-US" dirty="0"/>
              <a:t>)/2 time slice</a:t>
            </a:r>
          </a:p>
          <a:p>
            <a:r>
              <a:rPr lang="en-US" dirty="0"/>
              <a:t>ZOV trips should obey a strong gravity principle:</a:t>
            </a:r>
          </a:p>
          <a:p>
            <a:pPr lvl="1"/>
            <a:r>
              <a:rPr lang="en-US" dirty="0"/>
              <a:t>Cost per mile equal to the ZOV revenue loss vs. loaded trip fare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C8C43-8740-476C-B809-C9C25E84FCA2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66066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1845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Advanced ABM is the most appropriate tool to incorporate a wide range of AV impacts and effects:</a:t>
            </a:r>
          </a:p>
          <a:p>
            <a:pPr lvl="1"/>
            <a:r>
              <a:rPr lang="en-US" dirty="0"/>
              <a:t>More fundamental activity participation changes</a:t>
            </a:r>
          </a:p>
          <a:p>
            <a:pPr lvl="1"/>
            <a:r>
              <a:rPr lang="en-US" dirty="0"/>
              <a:t>More fluid travel arrangements, tour structure, and car use, </a:t>
            </a:r>
          </a:p>
          <a:p>
            <a:r>
              <a:rPr lang="en-US" dirty="0"/>
              <a:t>The impacts are less significant compared to many previous studies: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Many previous studies were based on </a:t>
            </a:r>
            <a:r>
              <a:rPr lang="en-US" i="1" dirty="0">
                <a:solidFill>
                  <a:srgbClr val="C00000"/>
                </a:solidFill>
              </a:rPr>
              <a:t>a priori </a:t>
            </a:r>
            <a:r>
              <a:rPr lang="en-US" dirty="0">
                <a:solidFill>
                  <a:srgbClr val="C00000"/>
                </a:solidFill>
              </a:rPr>
              <a:t>assumptions </a:t>
            </a:r>
          </a:p>
          <a:p>
            <a:pPr lvl="1"/>
            <a:r>
              <a:rPr lang="en-US" dirty="0"/>
              <a:t>Not that much growth in trip rates, trip length, and VMT</a:t>
            </a:r>
          </a:p>
          <a:p>
            <a:pPr lvl="2"/>
            <a:r>
              <a:rPr lang="en-US" dirty="0"/>
              <a:t>AVs changes the perception of travel but not the physical time available</a:t>
            </a:r>
          </a:p>
          <a:p>
            <a:pPr lvl="2"/>
            <a:r>
              <a:rPr lang="en-US" dirty="0"/>
              <a:t>ZOV trips are not significant (but can be if parking is constrained) </a:t>
            </a:r>
          </a:p>
          <a:p>
            <a:pPr lvl="1"/>
            <a:r>
              <a:rPr lang="en-US" dirty="0"/>
              <a:t>Not that much modal shift overall:</a:t>
            </a:r>
          </a:p>
          <a:p>
            <a:pPr lvl="2"/>
            <a:r>
              <a:rPr lang="en-US" dirty="0"/>
              <a:t>Transit mode redistribution is favor of rapid transit and K</a:t>
            </a:r>
            <a:r>
              <a:rPr lang="en-US" baseline="-25000" dirty="0"/>
              <a:t>R</a:t>
            </a:r>
            <a:r>
              <a:rPr lang="en-US" dirty="0"/>
              <a:t>NR</a:t>
            </a:r>
          </a:p>
          <a:p>
            <a:pPr lvl="2"/>
            <a:r>
              <a:rPr lang="en-US" dirty="0"/>
              <a:t>AV-TNC can come into play if cost is substantially reduced </a:t>
            </a:r>
          </a:p>
          <a:p>
            <a:pPr lvl="1"/>
            <a:r>
              <a:rPr lang="en-US" dirty="0"/>
              <a:t>Most substantial changes:</a:t>
            </a:r>
          </a:p>
          <a:p>
            <a:pPr lvl="2"/>
            <a:r>
              <a:rPr lang="en-US" dirty="0"/>
              <a:t>Less escorting and joint travel</a:t>
            </a:r>
          </a:p>
          <a:p>
            <a:pPr lvl="2"/>
            <a:r>
              <a:rPr lang="en-US" dirty="0"/>
              <a:t>More multi-modal combinations</a:t>
            </a:r>
          </a:p>
          <a:p>
            <a:pPr lvl="2"/>
            <a:r>
              <a:rPr lang="en-US" dirty="0"/>
              <a:t>Substantial congestion reduction with optimistic road capacity scenarios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C8C43-8740-476C-B809-C9C25E84FCA2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3932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4557</TotalTime>
  <Words>3721</Words>
  <Application>Microsoft Office PowerPoint</Application>
  <PresentationFormat>Widescreen</PresentationFormat>
  <Paragraphs>916</Paragraphs>
  <Slides>61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5" baseType="lpstr">
      <vt:lpstr>Arial</vt:lpstr>
      <vt:lpstr>Calibri</vt:lpstr>
      <vt:lpstr>Calibri Light</vt:lpstr>
      <vt:lpstr>Office Theme</vt:lpstr>
      <vt:lpstr>Incorporating AVs in Ohio 3C  CT-RAMP2 Model</vt:lpstr>
      <vt:lpstr>General approach to incorporate AVs </vt:lpstr>
      <vt:lpstr>AV implications for transportation/urban planning</vt:lpstr>
      <vt:lpstr>AV impacts reflected in travel model</vt:lpstr>
      <vt:lpstr>Requirements for consistent modeling of AVs</vt:lpstr>
      <vt:lpstr>AV impacts on travel demand</vt:lpstr>
      <vt:lpstr>How vehicles are used</vt:lpstr>
      <vt:lpstr>Cars available at any location any time, not necessarily from home for entire tour</vt:lpstr>
      <vt:lpstr>How people view travel</vt:lpstr>
      <vt:lpstr>General convenience of AV-KRNR vs. PNR KNR &amp; walk access/egress</vt:lpstr>
      <vt:lpstr>Impacts of AV on travel demand (Summary)</vt:lpstr>
      <vt:lpstr>carTrack</vt:lpstr>
      <vt:lpstr>HH car allocation and tracking (carTrack)</vt:lpstr>
      <vt:lpstr>HH car allocation conflict</vt:lpstr>
      <vt:lpstr>AV parking trade-off with empty trips</vt:lpstr>
      <vt:lpstr>AV parking and repositioning options</vt:lpstr>
      <vt:lpstr>Time-space car-person diagram for a single non-AV HH (from ABM but can be from HTS)</vt:lpstr>
      <vt:lpstr>Impact of car ownership (non-AV)</vt:lpstr>
      <vt:lpstr>Mitigated impact of car ownership (HH-owned AV)</vt:lpstr>
      <vt:lpstr>Impact of parking cost and trade-off with empty trips (HH-owned AV)</vt:lpstr>
      <vt:lpstr>Adjustments of network capacity and speed for AVs</vt:lpstr>
      <vt:lpstr>3 fundamental parameters</vt:lpstr>
      <vt:lpstr>Possible approaches / assumptions</vt:lpstr>
      <vt:lpstr>Le Vine et al, 2017</vt:lpstr>
      <vt:lpstr>AVs freeway capacity improvements (Mahmassani, 2016) </vt:lpstr>
      <vt:lpstr>AVs freeway capacity improvements: Spacing as function of penetration (Mahmassani, 2016) </vt:lpstr>
      <vt:lpstr>AVs freeway capacity improvements (Mahmassani, 2016) </vt:lpstr>
      <vt:lpstr>PowerPoint Presentation</vt:lpstr>
      <vt:lpstr>Adopted capacity factor as function of AV penetration rate</vt:lpstr>
      <vt:lpstr>Adopted speed factor as function of AV penetration rate</vt:lpstr>
      <vt:lpstr>Vehicle spacing factor as a sanity check</vt:lpstr>
      <vt:lpstr>Building “ideal” VDF</vt:lpstr>
      <vt:lpstr>AV scenario controls</vt:lpstr>
      <vt:lpstr>Market penetration rates by year</vt:lpstr>
      <vt:lpstr>Other scenario controls</vt:lpstr>
      <vt:lpstr>Other scenario controls</vt:lpstr>
      <vt:lpstr>Other scenario controls</vt:lpstr>
      <vt:lpstr>Other AV Parameters</vt:lpstr>
      <vt:lpstr>Results for modeled scenarios</vt:lpstr>
      <vt:lpstr>Scenarios</vt:lpstr>
      <vt:lpstr>Scenarios</vt:lpstr>
      <vt:lpstr>Impact of IVTT bonus on accessibility</vt:lpstr>
      <vt:lpstr>Impact on Activity Participation</vt:lpstr>
      <vt:lpstr>Impact on Average Trip Distance</vt:lpstr>
      <vt:lpstr>Impact on Mode Choice</vt:lpstr>
      <vt:lpstr>Impact on Mode Choice</vt:lpstr>
      <vt:lpstr>Impact on regional number of trips</vt:lpstr>
      <vt:lpstr>Impact on regional VMT</vt:lpstr>
      <vt:lpstr>ZOV trips</vt:lpstr>
      <vt:lpstr>ZOV VMT</vt:lpstr>
      <vt:lpstr>Impact on network delay</vt:lpstr>
      <vt:lpstr>Impact on network delay</vt:lpstr>
      <vt:lpstr>Next steps</vt:lpstr>
      <vt:lpstr>General directions for model improvements that relate to AVs </vt:lpstr>
      <vt:lpstr>PowerPoint Presentation</vt:lpstr>
      <vt:lpstr>Loose ends and short-term improvements</vt:lpstr>
      <vt:lpstr>AV impact on car ownership (aggregate)</vt:lpstr>
      <vt:lpstr>AV impact on car ownership &amp; mode choice (disaggregate Agent-Based outline) </vt:lpstr>
      <vt:lpstr>Strategic directions </vt:lpstr>
      <vt:lpstr>Possible short-term surrogate for taxi/TNC ZOV trips</vt:lpstr>
      <vt:lpstr>First conclusions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Incorporating AVs in CT-RAMP2</dc:title>
  <dc:creator>Vyas, Gaurav</dc:creator>
  <cp:lastModifiedBy>Vyas, Gaurav</cp:lastModifiedBy>
  <cp:revision>276</cp:revision>
  <dcterms:created xsi:type="dcterms:W3CDTF">2017-11-20T18:38:42Z</dcterms:created>
  <dcterms:modified xsi:type="dcterms:W3CDTF">2018-09-14T14:08:01Z</dcterms:modified>
</cp:coreProperties>
</file>